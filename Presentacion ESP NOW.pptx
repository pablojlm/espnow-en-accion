
<file path=[Content_Types].xml><?xml version="1.0" encoding="utf-8"?>
<Types xmlns="http://schemas.openxmlformats.org/package/2006/content-types">
  <Default Extension="blob" ContentType="image/jpeg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jpe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75" r:id="rId3"/>
    <p:sldId id="265" r:id="rId4"/>
    <p:sldId id="257" r:id="rId5"/>
    <p:sldId id="274" r:id="rId6"/>
    <p:sldId id="258" r:id="rId7"/>
    <p:sldId id="266" r:id="rId8"/>
    <p:sldId id="259" r:id="rId9"/>
    <p:sldId id="277" r:id="rId10"/>
    <p:sldId id="260" r:id="rId11"/>
    <p:sldId id="276" r:id="rId12"/>
    <p:sldId id="267" r:id="rId13"/>
    <p:sldId id="268" r:id="rId14"/>
    <p:sldId id="261" r:id="rId15"/>
    <p:sldId id="269" r:id="rId16"/>
    <p:sldId id="271" r:id="rId17"/>
    <p:sldId id="264" r:id="rId18"/>
    <p:sldId id="278" r:id="rId19"/>
  </p:sldIdLst>
  <p:sldSz cx="18288000" cy="10287000"/>
  <p:notesSz cx="6858000" cy="9144000"/>
  <p:embeddedFontLst>
    <p:embeddedFont>
      <p:font typeface="Poppins" panose="00000500000000000000" pitchFamily="2" charset="0"/>
      <p:regular r:id="rId20"/>
      <p:bold r:id="rId21"/>
      <p:italic r:id="rId22"/>
      <p:boldItalic r:id="rId23"/>
    </p:embeddedFont>
    <p:embeddedFont>
      <p:font typeface="Poppins Bold" panose="00000800000000000000" charset="0"/>
      <p:regular r:id="rId24"/>
    </p:embeddedFont>
    <p:embeddedFont>
      <p:font typeface="TT Norms" panose="020B0604020202020204" charset="0"/>
      <p:regular r:id="rId25"/>
    </p:embeddedFont>
    <p:embeddedFont>
      <p:font typeface="TT Norms 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2.svg"/><Relationship Id="rId7" Type="http://schemas.openxmlformats.org/officeDocument/2006/relationships/image" Target="../media/image10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Relationship Id="rId9" Type="http://schemas.openxmlformats.org/officeDocument/2006/relationships/image" Target="../media/image12.blob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9.web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1286713" y="2555579"/>
            <a:ext cx="15714573" cy="1875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373"/>
              </a:lnSpc>
            </a:pPr>
            <a:r>
              <a:rPr lang="en-US" sz="1098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ESP NOW </a:t>
            </a:r>
            <a:r>
              <a:rPr lang="en-US" sz="10980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en</a:t>
            </a:r>
            <a:r>
              <a:rPr lang="en-US" sz="1098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  <a:r>
              <a:rPr lang="en-US" sz="10980" b="1" dirty="0" err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accion</a:t>
            </a:r>
            <a:endParaRPr lang="en-US" sz="10980" b="1" dirty="0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6" name="Freeform 6"/>
          <p:cNvSpPr/>
          <p:nvPr/>
        </p:nvSpPr>
        <p:spPr>
          <a:xfrm>
            <a:off x="12266345" y="7941564"/>
            <a:ext cx="7315200" cy="1316736"/>
          </a:xfrm>
          <a:custGeom>
            <a:avLst/>
            <a:gdLst/>
            <a:ahLst/>
            <a:cxnLst/>
            <a:rect l="l" t="t" r="r" b="b"/>
            <a:pathLst>
              <a:path w="7315200" h="1316736">
                <a:moveTo>
                  <a:pt x="0" y="0"/>
                </a:moveTo>
                <a:lnTo>
                  <a:pt x="7315200" y="0"/>
                </a:lnTo>
                <a:lnTo>
                  <a:pt x="7315200" y="1316736"/>
                </a:lnTo>
                <a:lnTo>
                  <a:pt x="0" y="13167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7" name="TextBox 7"/>
          <p:cNvSpPr txBox="1"/>
          <p:nvPr/>
        </p:nvSpPr>
        <p:spPr>
          <a:xfrm>
            <a:off x="2789223" y="4991100"/>
            <a:ext cx="12709555" cy="2051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249"/>
              </a:lnSpc>
            </a:pPr>
            <a:r>
              <a:rPr lang="en-US" sz="5892" spc="-15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Mesh ESP-NOW multi-</a:t>
            </a:r>
            <a:r>
              <a:rPr lang="en-US" sz="5892" spc="-150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salto</a:t>
            </a:r>
            <a:r>
              <a:rPr lang="en-US" sz="5892" spc="-15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5892" spc="-150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en</a:t>
            </a:r>
            <a:r>
              <a:rPr lang="en-US" sz="5892" spc="-150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ESP32</a:t>
            </a:r>
          </a:p>
        </p:txBody>
      </p:sp>
      <p:sp>
        <p:nvSpPr>
          <p:cNvPr id="13" name="Freeform 13"/>
          <p:cNvSpPr/>
          <p:nvPr/>
        </p:nvSpPr>
        <p:spPr>
          <a:xfrm>
            <a:off x="-2438400" y="226314"/>
            <a:ext cx="7315200" cy="1316736"/>
          </a:xfrm>
          <a:custGeom>
            <a:avLst/>
            <a:gdLst/>
            <a:ahLst/>
            <a:cxnLst/>
            <a:rect l="l" t="t" r="r" b="b"/>
            <a:pathLst>
              <a:path w="7315200" h="1316736">
                <a:moveTo>
                  <a:pt x="0" y="0"/>
                </a:moveTo>
                <a:lnTo>
                  <a:pt x="7315200" y="0"/>
                </a:lnTo>
                <a:lnTo>
                  <a:pt x="7315200" y="1316736"/>
                </a:lnTo>
                <a:lnTo>
                  <a:pt x="0" y="13167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45A81-0306-69EE-021D-4FD1CEDD5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D270980-C215-B7B0-0B57-BAD2AEDC298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036" name="Title">
            <a:extLst>
              <a:ext uri="{FF2B5EF4-FFF2-40B4-BE49-F238E27FC236}">
                <a16:creationId xmlns:a16="http://schemas.microsoft.com/office/drawing/2014/main" id="{A446FF0A-22A9-5AEF-3400-A7638881844A}"/>
              </a:ext>
            </a:extLst>
          </p:cNvPr>
          <p:cNvSpPr txBox="1"/>
          <p:nvPr/>
        </p:nvSpPr>
        <p:spPr>
          <a:xfrm>
            <a:off x="5638800" y="4076700"/>
            <a:ext cx="7010400" cy="9000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72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Presentadores</a:t>
            </a:r>
          </a:p>
        </p:txBody>
      </p:sp>
    </p:spTree>
    <p:extLst>
      <p:ext uri="{BB962C8B-B14F-4D97-AF65-F5344CB8AC3E}">
        <p14:creationId xmlns:p14="http://schemas.microsoft.com/office/powerpoint/2010/main" val="1570047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CB3F2-4D7B-75BC-F8A3-2F5EB9E79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742E0FD-6463-5D50-D6FE-6D3A4ADEA2F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FE5A6DB-1D3B-4D2E-3FCC-204FD282F2A8}"/>
              </a:ext>
            </a:extLst>
          </p:cNvPr>
          <p:cNvSpPr txBox="1"/>
          <p:nvPr/>
        </p:nvSpPr>
        <p:spPr>
          <a:xfrm>
            <a:off x="1028700" y="2581872"/>
            <a:ext cx="7513966" cy="1889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49"/>
              </a:lnSpc>
            </a:pPr>
            <a:r>
              <a:rPr lang="en-US" sz="699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Pablo</a:t>
            </a:r>
          </a:p>
          <a:p>
            <a:pPr algn="l">
              <a:lnSpc>
                <a:spcPts val="7349"/>
              </a:lnSpc>
            </a:pPr>
            <a:r>
              <a:rPr lang="en-US" sz="699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López</a:t>
            </a:r>
          </a:p>
        </p:txBody>
      </p:sp>
      <p:sp>
        <p:nvSpPr>
          <p:cNvPr id="13" name="Freeform 13">
            <a:extLst>
              <a:ext uri="{FF2B5EF4-FFF2-40B4-BE49-F238E27FC236}">
                <a16:creationId xmlns:a16="http://schemas.microsoft.com/office/drawing/2014/main" id="{79C93A62-6E7D-BB17-0C2F-BE9353DA50E6}"/>
              </a:ext>
            </a:extLst>
          </p:cNvPr>
          <p:cNvSpPr/>
          <p:nvPr/>
        </p:nvSpPr>
        <p:spPr>
          <a:xfrm>
            <a:off x="-868377" y="9149333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0" y="0"/>
                </a:lnTo>
                <a:lnTo>
                  <a:pt x="5654060" y="1017731"/>
                </a:lnTo>
                <a:lnTo>
                  <a:pt x="0" y="10177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F6946E79-9F9B-0C7E-AB06-3FE40C7C6D15}"/>
              </a:ext>
            </a:extLst>
          </p:cNvPr>
          <p:cNvSpPr txBox="1"/>
          <p:nvPr/>
        </p:nvSpPr>
        <p:spPr>
          <a:xfrm>
            <a:off x="1028700" y="4758471"/>
            <a:ext cx="8435777" cy="140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1" indent="-342900" algn="just">
              <a:lnSpc>
                <a:spcPts val="265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419" sz="28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Estudiante de Ingeniería</a:t>
            </a:r>
            <a:r>
              <a:rPr lang="es-419" sz="2800" u="none" strike="noStrike" noProof="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Mecatrónica</a:t>
            </a:r>
          </a:p>
          <a:p>
            <a:pPr marL="342900" lvl="1" indent="-342900" algn="just">
              <a:lnSpc>
                <a:spcPts val="265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419" sz="2800" u="none" strike="noStrike" noProof="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Especializado en sistemas embebidos y automatización </a:t>
            </a:r>
          </a:p>
          <a:p>
            <a:pPr marL="342900" lvl="1" indent="-342900" algn="just">
              <a:lnSpc>
                <a:spcPts val="265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419" sz="2800" u="none" strike="noStrike" noProof="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Investigador en Tesla Lab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B0012EF-9057-1FE8-6D3A-74E000520C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32" r="11659"/>
          <a:stretch>
            <a:fillRect/>
          </a:stretch>
        </p:blipFill>
        <p:spPr>
          <a:xfrm>
            <a:off x="10273820" y="-6144"/>
            <a:ext cx="801418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0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TextBox 5"/>
          <p:cNvSpPr txBox="1"/>
          <p:nvPr/>
        </p:nvSpPr>
        <p:spPr>
          <a:xfrm>
            <a:off x="1028700" y="2581872"/>
            <a:ext cx="7513966" cy="1889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49"/>
              </a:lnSpc>
            </a:pPr>
            <a:r>
              <a:rPr lang="en-US" sz="699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Daniel</a:t>
            </a:r>
          </a:p>
          <a:p>
            <a:pPr algn="l">
              <a:lnSpc>
                <a:spcPts val="7349"/>
              </a:lnSpc>
            </a:pPr>
            <a:r>
              <a:rPr lang="en-US" sz="6999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Oliva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4758471"/>
            <a:ext cx="8435777" cy="1406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1" indent="-342900" algn="just">
              <a:lnSpc>
                <a:spcPts val="265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419" sz="28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Pensum cerrado en Ingeniería</a:t>
            </a:r>
            <a:r>
              <a:rPr lang="es-419" sz="2800" u="none" strike="noStrike" noProof="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 Mecatrónica</a:t>
            </a:r>
          </a:p>
          <a:p>
            <a:pPr marL="342900" lvl="1" indent="-342900" algn="just">
              <a:lnSpc>
                <a:spcPts val="265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419" sz="2800" u="none" strike="noStrike" noProof="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Especializado en manufactura aditiva FDM</a:t>
            </a:r>
          </a:p>
          <a:p>
            <a:pPr marL="342900" lvl="1" indent="-342900" algn="just">
              <a:lnSpc>
                <a:spcPts val="265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419" sz="28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Administrados Grupo </a:t>
            </a:r>
            <a:r>
              <a:rPr lang="es-419" sz="2800" dirty="0" err="1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Meditex</a:t>
            </a:r>
            <a:endParaRPr lang="es-419" sz="2800" dirty="0">
              <a:solidFill>
                <a:srgbClr val="FFFFFF"/>
              </a:solidFill>
              <a:latin typeface="TT Norms"/>
              <a:ea typeface="TT Norms"/>
              <a:cs typeface="TT Norms"/>
              <a:sym typeface="TT Norms"/>
            </a:endParaRPr>
          </a:p>
          <a:p>
            <a:pPr marL="342900" lvl="1" indent="-342900" algn="just">
              <a:lnSpc>
                <a:spcPts val="265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419" sz="2800" u="none" strike="noStrike" noProof="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Diseño CAM y CAD </a:t>
            </a:r>
          </a:p>
        </p:txBody>
      </p:sp>
      <p:sp>
        <p:nvSpPr>
          <p:cNvPr id="13" name="Freeform 13"/>
          <p:cNvSpPr/>
          <p:nvPr/>
        </p:nvSpPr>
        <p:spPr>
          <a:xfrm>
            <a:off x="-868377" y="9149333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0" y="0"/>
                </a:lnTo>
                <a:lnTo>
                  <a:pt x="5654060" y="1017731"/>
                </a:lnTo>
                <a:lnTo>
                  <a:pt x="0" y="10177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F688BCB-BBFF-8FDD-2A9B-F898B263E3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45711" y="0"/>
            <a:ext cx="771525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031" name="Kicker"/>
          <p:cNvSpPr txBox="1"/>
          <p:nvPr/>
        </p:nvSpPr>
        <p:spPr>
          <a:xfrm>
            <a:off x="1028700" y="1795250"/>
            <a:ext cx="9000000" cy="6455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8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AGENDA</a:t>
            </a:r>
          </a:p>
        </p:txBody>
      </p:sp>
      <p:sp>
        <p:nvSpPr>
          <p:cNvPr id="1001" name="Card"/>
          <p:cNvSpPr/>
          <p:nvPr/>
        </p:nvSpPr>
        <p:spPr>
          <a:xfrm>
            <a:off x="1028700" y="282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02" name="Card"/>
          <p:cNvSpPr/>
          <p:nvPr/>
        </p:nvSpPr>
        <p:spPr>
          <a:xfrm>
            <a:off x="1248700" y="30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 sz="2400"/>
          </a:p>
        </p:txBody>
      </p:sp>
      <p:sp>
        <p:nvSpPr>
          <p:cNvPr id="1003" name="Text"/>
          <p:cNvSpPr txBox="1"/>
          <p:nvPr/>
        </p:nvSpPr>
        <p:spPr>
          <a:xfrm>
            <a:off x="1248700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1</a:t>
            </a:r>
            <a:endParaRPr lang="es-419" sz="1600" b="1" dirty="0">
              <a:solidFill>
                <a:srgbClr val="FFFFFF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004" name="Text"/>
          <p:cNvSpPr txBox="1"/>
          <p:nvPr/>
        </p:nvSpPr>
        <p:spPr>
          <a:xfrm>
            <a:off x="1231494" y="3633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6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¿Qué es ESP-NOW?</a:t>
            </a:r>
          </a:p>
        </p:txBody>
      </p:sp>
      <p:sp>
        <p:nvSpPr>
          <p:cNvPr id="1006" name="Card"/>
          <p:cNvSpPr/>
          <p:nvPr/>
        </p:nvSpPr>
        <p:spPr>
          <a:xfrm>
            <a:off x="9274000" y="282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07" name="Card"/>
          <p:cNvSpPr/>
          <p:nvPr/>
        </p:nvSpPr>
        <p:spPr>
          <a:xfrm>
            <a:off x="9494000" y="30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08" name="Text"/>
          <p:cNvSpPr txBox="1"/>
          <p:nvPr/>
        </p:nvSpPr>
        <p:spPr>
          <a:xfrm>
            <a:off x="9494000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2</a:t>
            </a:r>
          </a:p>
        </p:txBody>
      </p:sp>
      <p:sp>
        <p:nvSpPr>
          <p:cNvPr id="1009" name="Text"/>
          <p:cNvSpPr txBox="1"/>
          <p:nvPr/>
        </p:nvSpPr>
        <p:spPr>
          <a:xfrm>
            <a:off x="9494000" y="365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6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Pros y contras</a:t>
            </a:r>
          </a:p>
        </p:txBody>
      </p:sp>
      <p:sp>
        <p:nvSpPr>
          <p:cNvPr id="1011" name="Card"/>
          <p:cNvSpPr/>
          <p:nvPr/>
        </p:nvSpPr>
        <p:spPr>
          <a:xfrm>
            <a:off x="1028700" y="480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12" name="Card"/>
          <p:cNvSpPr/>
          <p:nvPr/>
        </p:nvSpPr>
        <p:spPr>
          <a:xfrm>
            <a:off x="1248700" y="502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13" name="Text"/>
          <p:cNvSpPr txBox="1"/>
          <p:nvPr/>
        </p:nvSpPr>
        <p:spPr>
          <a:xfrm>
            <a:off x="1248700" y="502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3</a:t>
            </a:r>
          </a:p>
        </p:txBody>
      </p:sp>
      <p:sp>
        <p:nvSpPr>
          <p:cNvPr id="1014" name="Text"/>
          <p:cNvSpPr txBox="1"/>
          <p:nvPr/>
        </p:nvSpPr>
        <p:spPr>
          <a:xfrm>
            <a:off x="1248700" y="563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6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Hobbies vs. industria</a:t>
            </a:r>
          </a:p>
        </p:txBody>
      </p:sp>
      <p:sp>
        <p:nvSpPr>
          <p:cNvPr id="1016" name="Card"/>
          <p:cNvSpPr/>
          <p:nvPr/>
        </p:nvSpPr>
        <p:spPr>
          <a:xfrm>
            <a:off x="9274000" y="480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17" name="Card"/>
          <p:cNvSpPr/>
          <p:nvPr/>
        </p:nvSpPr>
        <p:spPr>
          <a:xfrm>
            <a:off x="9494000" y="502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 dirty="0"/>
          </a:p>
        </p:txBody>
      </p:sp>
      <p:sp>
        <p:nvSpPr>
          <p:cNvPr id="1018" name="Text"/>
          <p:cNvSpPr txBox="1"/>
          <p:nvPr/>
        </p:nvSpPr>
        <p:spPr>
          <a:xfrm>
            <a:off x="9494000" y="502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4</a:t>
            </a:r>
          </a:p>
        </p:txBody>
      </p:sp>
      <p:sp>
        <p:nvSpPr>
          <p:cNvPr id="1019" name="Text"/>
          <p:cNvSpPr txBox="1"/>
          <p:nvPr/>
        </p:nvSpPr>
        <p:spPr>
          <a:xfrm>
            <a:off x="9494000" y="563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6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Hardware compatible</a:t>
            </a:r>
          </a:p>
        </p:txBody>
      </p:sp>
      <p:sp>
        <p:nvSpPr>
          <p:cNvPr id="1021" name="Card"/>
          <p:cNvSpPr/>
          <p:nvPr/>
        </p:nvSpPr>
        <p:spPr>
          <a:xfrm>
            <a:off x="1028700" y="678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22" name="Card"/>
          <p:cNvSpPr/>
          <p:nvPr/>
        </p:nvSpPr>
        <p:spPr>
          <a:xfrm>
            <a:off x="1248700" y="700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23" name="Text"/>
          <p:cNvSpPr txBox="1"/>
          <p:nvPr/>
        </p:nvSpPr>
        <p:spPr>
          <a:xfrm>
            <a:off x="1248700" y="700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5</a:t>
            </a:r>
          </a:p>
        </p:txBody>
      </p:sp>
      <p:sp>
        <p:nvSpPr>
          <p:cNvPr id="1024" name="Text"/>
          <p:cNvSpPr txBox="1"/>
          <p:nvPr/>
        </p:nvSpPr>
        <p:spPr>
          <a:xfrm>
            <a:off x="1248700" y="761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6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Cómo empezar</a:t>
            </a:r>
          </a:p>
        </p:txBody>
      </p:sp>
      <p:sp>
        <p:nvSpPr>
          <p:cNvPr id="1026" name="Card"/>
          <p:cNvSpPr/>
          <p:nvPr/>
        </p:nvSpPr>
        <p:spPr>
          <a:xfrm>
            <a:off x="9274000" y="678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27" name="Card"/>
          <p:cNvSpPr/>
          <p:nvPr/>
        </p:nvSpPr>
        <p:spPr>
          <a:xfrm>
            <a:off x="9494000" y="700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28" name="Text"/>
          <p:cNvSpPr txBox="1"/>
          <p:nvPr/>
        </p:nvSpPr>
        <p:spPr>
          <a:xfrm>
            <a:off x="9494000" y="700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6</a:t>
            </a:r>
          </a:p>
        </p:txBody>
      </p:sp>
      <p:sp>
        <p:nvSpPr>
          <p:cNvPr id="1029" name="Text"/>
          <p:cNvSpPr txBox="1"/>
          <p:nvPr/>
        </p:nvSpPr>
        <p:spPr>
          <a:xfrm>
            <a:off x="9494000" y="761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6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Nuestro proyecto: MeshNow</a:t>
            </a:r>
          </a:p>
        </p:txBody>
      </p:sp>
      <p:sp>
        <p:nvSpPr>
          <p:cNvPr id="18" name="Freeform 18"/>
          <p:cNvSpPr/>
          <p:nvPr/>
        </p:nvSpPr>
        <p:spPr>
          <a:xfrm>
            <a:off x="-271776" y="8749435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033" name="Text"/>
          <p:cNvSpPr txBox="1"/>
          <p:nvPr/>
        </p:nvSpPr>
        <p:spPr>
          <a:xfrm>
            <a:off x="1026242" y="2680000"/>
            <a:ext cx="16230600" cy="90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Un protocolo inalámbrico de Espressif que conecta placas ESP </a:t>
            </a:r>
            <a:r>
              <a:rPr lang="es-419" sz="2400" b="1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directamente entre sí</a:t>
            </a: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, sin router, sin punto de acceso y sin necesidad de una red Wi-Fi tradicional.</a:t>
            </a:r>
          </a:p>
        </p:txBody>
      </p:sp>
      <p:sp>
        <p:nvSpPr>
          <p:cNvPr id="1034" name="Text"/>
          <p:cNvSpPr txBox="1"/>
          <p:nvPr/>
        </p:nvSpPr>
        <p:spPr>
          <a:xfrm>
            <a:off x="1028700" y="3870000"/>
            <a:ext cx="11620500" cy="4630000"/>
          </a:xfrm>
          <a:prstGeom prst="rect">
            <a:avLst/>
          </a:prstGeo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Capa física:  </a:t>
            </a: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usa el radio 2.4 GHz de Wi-Fi, pero NO la pila IP/TCP — es mucho más liviano.</a:t>
            </a:r>
          </a:p>
          <a:p>
            <a:pPr marL="285750" indent="-285750">
              <a:spcBef>
                <a:spcPts val="1600"/>
              </a:spcBef>
              <a:buFont typeface="Arial"/>
              <a:buChar char="•"/>
            </a:pPr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Conexión:  </a:t>
            </a: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dispositivo a dispositivo (peer-</a:t>
            </a:r>
            <a:r>
              <a:rPr lang="es-419" sz="2400" dirty="0" err="1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to</a:t>
            </a: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-peer) o broadcast a todos los que escuchan.</a:t>
            </a:r>
          </a:p>
          <a:p>
            <a:pPr marL="285750" indent="-285750">
              <a:spcBef>
                <a:spcPts val="1600"/>
              </a:spcBef>
              <a:buFont typeface="Arial"/>
              <a:buChar char="•"/>
            </a:pPr>
            <a:r>
              <a:rPr lang="es-419" sz="2400" b="1" dirty="0" err="1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Payload</a:t>
            </a:r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:  </a:t>
            </a: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paquetes cortos: hasta 250 bytes de datos por envío.</a:t>
            </a:r>
          </a:p>
          <a:p>
            <a:pPr marL="285750" indent="-285750">
              <a:spcBef>
                <a:spcPts val="1600"/>
              </a:spcBef>
              <a:buFont typeface="Arial"/>
              <a:buChar char="•"/>
            </a:pPr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Latencia:  </a:t>
            </a: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muy baja — típicamente unos pocos milisegundos por salto.</a:t>
            </a:r>
          </a:p>
          <a:p>
            <a:pPr marL="285750" indent="-285750">
              <a:spcBef>
                <a:spcPts val="1600"/>
              </a:spcBef>
              <a:buFont typeface="Arial"/>
              <a:buChar char="•"/>
            </a:pPr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Peers:  </a:t>
            </a: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hasta ~20 dispositivos cifrados registrados simultáneamente (según el chip/SDK).</a:t>
            </a:r>
          </a:p>
        </p:txBody>
      </p:sp>
      <p:sp>
        <p:nvSpPr>
          <p:cNvPr id="18" name="Freeform 18"/>
          <p:cNvSpPr/>
          <p:nvPr/>
        </p:nvSpPr>
        <p:spPr>
          <a:xfrm>
            <a:off x="-271776" y="8749435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64A9A08-17B1-BA67-9D38-860D36873E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99167" y="3578771"/>
            <a:ext cx="4257675" cy="4257675"/>
          </a:xfrm>
          <a:prstGeom prst="rect">
            <a:avLst/>
          </a:prstGeom>
        </p:spPr>
      </p:pic>
      <p:sp>
        <p:nvSpPr>
          <p:cNvPr id="9" name="Kicker">
            <a:extLst>
              <a:ext uri="{FF2B5EF4-FFF2-40B4-BE49-F238E27FC236}">
                <a16:creationId xmlns:a16="http://schemas.microsoft.com/office/drawing/2014/main" id="{9666C55A-27F3-D42E-0DA7-7AB3960E3F9A}"/>
              </a:ext>
            </a:extLst>
          </p:cNvPr>
          <p:cNvSpPr txBox="1"/>
          <p:nvPr/>
        </p:nvSpPr>
        <p:spPr>
          <a:xfrm>
            <a:off x="1028700" y="1795250"/>
            <a:ext cx="9000000" cy="6455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8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¿Qué es ESP-NOW?</a:t>
            </a:r>
          </a:p>
          <a:p>
            <a:endParaRPr lang="es-419" sz="4800" b="1" spc="150" dirty="0">
              <a:solidFill>
                <a:srgbClr val="A173FD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047" name="Kicker"/>
          <p:cNvSpPr txBox="1"/>
          <p:nvPr/>
        </p:nvSpPr>
        <p:spPr>
          <a:xfrm>
            <a:off x="1028700" y="1766106"/>
            <a:ext cx="9000000" cy="7217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ES" sz="48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Pros y contras de ESP-NOW</a:t>
            </a:r>
          </a:p>
          <a:p>
            <a:endParaRPr lang="es-419" sz="1300" b="1" spc="150" dirty="0">
              <a:solidFill>
                <a:srgbClr val="A173FD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037" name="Card"/>
          <p:cNvSpPr/>
          <p:nvPr/>
        </p:nvSpPr>
        <p:spPr>
          <a:xfrm>
            <a:off x="1028700" y="2820000"/>
            <a:ext cx="7915300" cy="5680000"/>
          </a:xfrm>
          <a:prstGeom prst="roundRect">
            <a:avLst>
              <a:gd name="adj" fmla="val 6000"/>
            </a:avLst>
          </a:prstGeom>
          <a:solidFill>
            <a:srgbClr val="0F2A1C"/>
          </a:solidFill>
        </p:spPr>
        <p:txBody>
          <a:bodyPr/>
          <a:lstStyle/>
          <a:p>
            <a:endParaRPr lang="es-419"/>
          </a:p>
        </p:txBody>
      </p:sp>
      <p:sp>
        <p:nvSpPr>
          <p:cNvPr id="1038" name="Card"/>
          <p:cNvSpPr/>
          <p:nvPr/>
        </p:nvSpPr>
        <p:spPr>
          <a:xfrm>
            <a:off x="1288700" y="3080000"/>
            <a:ext cx="520000" cy="5200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</p:spPr>
        <p:txBody>
          <a:bodyPr/>
          <a:lstStyle/>
          <a:p>
            <a:endParaRPr lang="es-419"/>
          </a:p>
        </p:txBody>
      </p:sp>
      <p:sp>
        <p:nvSpPr>
          <p:cNvPr id="1039" name="Text"/>
          <p:cNvSpPr txBox="1"/>
          <p:nvPr/>
        </p:nvSpPr>
        <p:spPr>
          <a:xfrm>
            <a:off x="1288700" y="3080000"/>
            <a:ext cx="520000" cy="52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0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+</a:t>
            </a:r>
          </a:p>
        </p:txBody>
      </p:sp>
      <p:sp>
        <p:nvSpPr>
          <p:cNvPr id="1040" name="Text"/>
          <p:cNvSpPr txBox="1"/>
          <p:nvPr/>
        </p:nvSpPr>
        <p:spPr>
          <a:xfrm>
            <a:off x="1928700" y="3061068"/>
            <a:ext cx="6815300" cy="50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40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Pros</a:t>
            </a:r>
          </a:p>
        </p:txBody>
      </p:sp>
      <p:sp>
        <p:nvSpPr>
          <p:cNvPr id="1041" name="Text"/>
          <p:cNvSpPr txBox="1"/>
          <p:nvPr/>
        </p:nvSpPr>
        <p:spPr>
          <a:xfrm>
            <a:off x="1288700" y="3918674"/>
            <a:ext cx="7315300" cy="4044225"/>
          </a:xfrm>
          <a:prstGeom prst="rect">
            <a:avLst/>
          </a:prstGeo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Sin router ni contraseña: los nodos se hablan directo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Latencia mínima, ideal para control en tiempo real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Bajo consumo: perfecto para baterías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API simple: esp_now_send() 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Broadcast nativo a todos los nodos en el canal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Puede convivir con una conexión Wi-Fi normal (STA)</a:t>
            </a:r>
          </a:p>
        </p:txBody>
      </p:sp>
      <p:sp>
        <p:nvSpPr>
          <p:cNvPr id="1042" name="Card"/>
          <p:cNvSpPr/>
          <p:nvPr/>
        </p:nvSpPr>
        <p:spPr>
          <a:xfrm>
            <a:off x="9344000" y="2820000"/>
            <a:ext cx="7915300" cy="5680000"/>
          </a:xfrm>
          <a:prstGeom prst="roundRect">
            <a:avLst>
              <a:gd name="adj" fmla="val 6000"/>
            </a:avLst>
          </a:prstGeom>
          <a:solidFill>
            <a:srgbClr val="2A1414"/>
          </a:solidFill>
        </p:spPr>
        <p:txBody>
          <a:bodyPr/>
          <a:lstStyle/>
          <a:p>
            <a:endParaRPr lang="es-419"/>
          </a:p>
        </p:txBody>
      </p:sp>
      <p:sp>
        <p:nvSpPr>
          <p:cNvPr id="1043" name="Card"/>
          <p:cNvSpPr/>
          <p:nvPr/>
        </p:nvSpPr>
        <p:spPr>
          <a:xfrm>
            <a:off x="9604000" y="3080000"/>
            <a:ext cx="520000" cy="520000"/>
          </a:xfrm>
          <a:prstGeom prst="roundRect">
            <a:avLst>
              <a:gd name="adj" fmla="val 50000"/>
            </a:avLst>
          </a:prstGeom>
          <a:solidFill>
            <a:srgbClr val="F87171"/>
          </a:solidFill>
        </p:spPr>
        <p:txBody>
          <a:bodyPr/>
          <a:lstStyle/>
          <a:p>
            <a:endParaRPr lang="es-419"/>
          </a:p>
        </p:txBody>
      </p:sp>
      <p:sp>
        <p:nvSpPr>
          <p:cNvPr id="1044" name="Text"/>
          <p:cNvSpPr txBox="1"/>
          <p:nvPr/>
        </p:nvSpPr>
        <p:spPr>
          <a:xfrm>
            <a:off x="9604000" y="3080000"/>
            <a:ext cx="520000" cy="52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0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−</a:t>
            </a:r>
          </a:p>
        </p:txBody>
      </p:sp>
      <p:sp>
        <p:nvSpPr>
          <p:cNvPr id="1045" name="Text"/>
          <p:cNvSpPr txBox="1"/>
          <p:nvPr/>
        </p:nvSpPr>
        <p:spPr>
          <a:xfrm>
            <a:off x="10198748" y="3033342"/>
            <a:ext cx="6815300" cy="50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40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Contras</a:t>
            </a:r>
            <a:endParaRPr lang="es-419" sz="3200" b="1" dirty="0">
              <a:solidFill>
                <a:srgbClr val="FFFFFF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046" name="Text"/>
          <p:cNvSpPr txBox="1"/>
          <p:nvPr/>
        </p:nvSpPr>
        <p:spPr>
          <a:xfrm>
            <a:off x="9644000" y="3870000"/>
            <a:ext cx="7315300" cy="4380000"/>
          </a:xfrm>
          <a:prstGeom prst="rect">
            <a:avLst/>
          </a:prstGeo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Paquetes pequeños: máx. 250 bytes por paquete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“Mejor esfuerzo”: sin garantía de entrega ni ACK de app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Sin IP ni enrutamiento, se debe hacer protocolo propio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Límite de peers cifrados simultáneos (~20)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Todos los nodos deben compartir el mismo canal Wi-Fi</a:t>
            </a:r>
          </a:p>
          <a:p>
            <a:pPr marL="285750" indent="-285750">
              <a:spcBef>
                <a:spcPts val="15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Sujeto a la banda 2.4 GHz</a:t>
            </a:r>
          </a:p>
        </p:txBody>
      </p:sp>
      <p:sp>
        <p:nvSpPr>
          <p:cNvPr id="18" name="Freeform 18"/>
          <p:cNvSpPr/>
          <p:nvPr/>
        </p:nvSpPr>
        <p:spPr>
          <a:xfrm>
            <a:off x="-271776" y="8749435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1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079" name="Kicker"/>
          <p:cNvSpPr txBox="1"/>
          <p:nvPr/>
        </p:nvSpPr>
        <p:spPr>
          <a:xfrm>
            <a:off x="1028699" y="1710398"/>
            <a:ext cx="10993733" cy="799735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8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ESP-NOW en proyectos personales</a:t>
            </a:r>
          </a:p>
        </p:txBody>
      </p:sp>
      <p:sp>
        <p:nvSpPr>
          <p:cNvPr id="1049" name="Card"/>
          <p:cNvSpPr/>
          <p:nvPr/>
        </p:nvSpPr>
        <p:spPr>
          <a:xfrm>
            <a:off x="1028700" y="282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50" name="Card"/>
          <p:cNvSpPr/>
          <p:nvPr/>
        </p:nvSpPr>
        <p:spPr>
          <a:xfrm>
            <a:off x="1248700" y="30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51" name="Text"/>
          <p:cNvSpPr txBox="1"/>
          <p:nvPr/>
        </p:nvSpPr>
        <p:spPr>
          <a:xfrm>
            <a:off x="1248700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1</a:t>
            </a:r>
            <a:endParaRPr lang="es-419" sz="1600" b="1" dirty="0">
              <a:solidFill>
                <a:srgbClr val="FFFFFF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052" name="Text"/>
          <p:cNvSpPr txBox="1"/>
          <p:nvPr/>
        </p:nvSpPr>
        <p:spPr>
          <a:xfrm>
            <a:off x="1248700" y="36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2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Control remoto DIY</a:t>
            </a:r>
          </a:p>
        </p:txBody>
      </p:sp>
      <p:sp>
        <p:nvSpPr>
          <p:cNvPr id="1053" name="Text"/>
          <p:cNvSpPr txBox="1"/>
          <p:nvPr/>
        </p:nvSpPr>
        <p:spPr>
          <a:xfrm>
            <a:off x="1248700" y="408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Mandos custom para carritos RC, drones o robots, sin depender de un receptor comercial.</a:t>
            </a:r>
          </a:p>
        </p:txBody>
      </p:sp>
      <p:sp>
        <p:nvSpPr>
          <p:cNvPr id="1054" name="Card"/>
          <p:cNvSpPr/>
          <p:nvPr/>
        </p:nvSpPr>
        <p:spPr>
          <a:xfrm>
            <a:off x="6525566" y="282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55" name="Card"/>
          <p:cNvSpPr/>
          <p:nvPr/>
        </p:nvSpPr>
        <p:spPr>
          <a:xfrm>
            <a:off x="6745566" y="30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56" name="Text"/>
          <p:cNvSpPr txBox="1"/>
          <p:nvPr/>
        </p:nvSpPr>
        <p:spPr>
          <a:xfrm>
            <a:off x="6745566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2</a:t>
            </a:r>
          </a:p>
        </p:txBody>
      </p:sp>
      <p:sp>
        <p:nvSpPr>
          <p:cNvPr id="1057" name="Text"/>
          <p:cNvSpPr txBox="1"/>
          <p:nvPr/>
        </p:nvSpPr>
        <p:spPr>
          <a:xfrm>
            <a:off x="6745566" y="36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2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Domótica sin Wi-Fi</a:t>
            </a:r>
          </a:p>
        </p:txBody>
      </p:sp>
      <p:sp>
        <p:nvSpPr>
          <p:cNvPr id="1058" name="Text"/>
          <p:cNvSpPr txBox="1"/>
          <p:nvPr/>
        </p:nvSpPr>
        <p:spPr>
          <a:xfrm>
            <a:off x="6745566" y="408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Sensores de puerta, temperatura o movimiento que avisan a un hub central al instante.</a:t>
            </a:r>
          </a:p>
        </p:txBody>
      </p:sp>
      <p:sp>
        <p:nvSpPr>
          <p:cNvPr id="1059" name="Card"/>
          <p:cNvSpPr/>
          <p:nvPr/>
        </p:nvSpPr>
        <p:spPr>
          <a:xfrm>
            <a:off x="12022433" y="282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60" name="Card"/>
          <p:cNvSpPr/>
          <p:nvPr/>
        </p:nvSpPr>
        <p:spPr>
          <a:xfrm>
            <a:off x="12242433" y="30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61" name="Text"/>
          <p:cNvSpPr txBox="1"/>
          <p:nvPr/>
        </p:nvSpPr>
        <p:spPr>
          <a:xfrm>
            <a:off x="12242433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3</a:t>
            </a:r>
          </a:p>
        </p:txBody>
      </p:sp>
      <p:sp>
        <p:nvSpPr>
          <p:cNvPr id="1062" name="Text"/>
          <p:cNvSpPr txBox="1"/>
          <p:nvPr/>
        </p:nvSpPr>
        <p:spPr>
          <a:xfrm>
            <a:off x="12242433" y="36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2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Arte interactivo</a:t>
            </a:r>
          </a:p>
        </p:txBody>
      </p:sp>
      <p:sp>
        <p:nvSpPr>
          <p:cNvPr id="1063" name="Text"/>
          <p:cNvSpPr txBox="1"/>
          <p:nvPr/>
        </p:nvSpPr>
        <p:spPr>
          <a:xfrm>
            <a:off x="12242433" y="408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Instalaciones de luces (NeoPixel) que reaccionan y se sincronizan entre varios nodos.</a:t>
            </a:r>
          </a:p>
        </p:txBody>
      </p:sp>
      <p:sp>
        <p:nvSpPr>
          <p:cNvPr id="1064" name="Card"/>
          <p:cNvSpPr/>
          <p:nvPr/>
        </p:nvSpPr>
        <p:spPr>
          <a:xfrm>
            <a:off x="1028700" y="579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65" name="Card"/>
          <p:cNvSpPr/>
          <p:nvPr/>
        </p:nvSpPr>
        <p:spPr>
          <a:xfrm>
            <a:off x="1248700" y="601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66" name="Text"/>
          <p:cNvSpPr txBox="1"/>
          <p:nvPr/>
        </p:nvSpPr>
        <p:spPr>
          <a:xfrm>
            <a:off x="1248700" y="601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4</a:t>
            </a:r>
          </a:p>
        </p:txBody>
      </p:sp>
      <p:sp>
        <p:nvSpPr>
          <p:cNvPr id="1067" name="Text"/>
          <p:cNvSpPr txBox="1"/>
          <p:nvPr/>
        </p:nvSpPr>
        <p:spPr>
          <a:xfrm>
            <a:off x="1248700" y="662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2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Mensajería</a:t>
            </a:r>
          </a:p>
        </p:txBody>
      </p:sp>
      <p:sp>
        <p:nvSpPr>
          <p:cNvPr id="1068" name="Text"/>
          <p:cNvSpPr txBox="1"/>
          <p:nvPr/>
        </p:nvSpPr>
        <p:spPr>
          <a:xfrm>
            <a:off x="1248700" y="7145000"/>
            <a:ext cx="4796866" cy="11989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Mandar texto o comandos cortos entre placas — como en nuestro proyecto MeshNow.</a:t>
            </a:r>
          </a:p>
        </p:txBody>
      </p:sp>
      <p:sp>
        <p:nvSpPr>
          <p:cNvPr id="1069" name="Card"/>
          <p:cNvSpPr/>
          <p:nvPr/>
        </p:nvSpPr>
        <p:spPr>
          <a:xfrm>
            <a:off x="6525566" y="579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70" name="Card"/>
          <p:cNvSpPr/>
          <p:nvPr/>
        </p:nvSpPr>
        <p:spPr>
          <a:xfrm>
            <a:off x="6745566" y="601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71" name="Text"/>
          <p:cNvSpPr txBox="1"/>
          <p:nvPr/>
        </p:nvSpPr>
        <p:spPr>
          <a:xfrm>
            <a:off x="6745566" y="601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5</a:t>
            </a:r>
          </a:p>
        </p:txBody>
      </p:sp>
      <p:sp>
        <p:nvSpPr>
          <p:cNvPr id="1072" name="Text"/>
          <p:cNvSpPr txBox="1"/>
          <p:nvPr/>
        </p:nvSpPr>
        <p:spPr>
          <a:xfrm>
            <a:off x="6745566" y="662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2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Redes de sensores portátiles</a:t>
            </a:r>
          </a:p>
        </p:txBody>
      </p:sp>
      <p:sp>
        <p:nvSpPr>
          <p:cNvPr id="1073" name="Text"/>
          <p:cNvSpPr txBox="1"/>
          <p:nvPr/>
        </p:nvSpPr>
        <p:spPr>
          <a:xfrm>
            <a:off x="6748024" y="7646924"/>
            <a:ext cx="4796866" cy="696976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Estaciones meteorológicas o de campo que no necesitan infraestructura Wi-Fi.</a:t>
            </a:r>
          </a:p>
        </p:txBody>
      </p:sp>
      <p:sp>
        <p:nvSpPr>
          <p:cNvPr id="1074" name="Card"/>
          <p:cNvSpPr/>
          <p:nvPr/>
        </p:nvSpPr>
        <p:spPr>
          <a:xfrm>
            <a:off x="12022433" y="579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75" name="Card"/>
          <p:cNvSpPr/>
          <p:nvPr/>
        </p:nvSpPr>
        <p:spPr>
          <a:xfrm>
            <a:off x="12242433" y="601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076" name="Text"/>
          <p:cNvSpPr txBox="1"/>
          <p:nvPr/>
        </p:nvSpPr>
        <p:spPr>
          <a:xfrm>
            <a:off x="12242433" y="601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6</a:t>
            </a:r>
          </a:p>
        </p:txBody>
      </p:sp>
      <p:sp>
        <p:nvSpPr>
          <p:cNvPr id="1077" name="Text"/>
          <p:cNvSpPr txBox="1"/>
          <p:nvPr/>
        </p:nvSpPr>
        <p:spPr>
          <a:xfrm>
            <a:off x="12242433" y="662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2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Juegos y cosplay</a:t>
            </a:r>
          </a:p>
        </p:txBody>
      </p:sp>
      <p:sp>
        <p:nvSpPr>
          <p:cNvPr id="1078" name="Text"/>
          <p:cNvSpPr txBox="1"/>
          <p:nvPr/>
        </p:nvSpPr>
        <p:spPr>
          <a:xfrm>
            <a:off x="12242433" y="7180000"/>
            <a:ext cx="4796866" cy="8591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Botones, disfraces o props de escape room que se comunican entre sí en vivo.</a:t>
            </a:r>
          </a:p>
        </p:txBody>
      </p:sp>
      <p:sp>
        <p:nvSpPr>
          <p:cNvPr id="16" name="Freeform 16"/>
          <p:cNvSpPr/>
          <p:nvPr/>
        </p:nvSpPr>
        <p:spPr>
          <a:xfrm>
            <a:off x="-600790" y="8648468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0" y="0"/>
                </a:lnTo>
                <a:lnTo>
                  <a:pt x="5654060" y="1017731"/>
                </a:lnTo>
                <a:lnTo>
                  <a:pt x="0" y="10177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52385-E681-BDE3-4F33-F0007AA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1D80A3E-DCA1-2440-B16D-1825E37C2E7E}"/>
              </a:ext>
            </a:extLst>
          </p:cNvPr>
          <p:cNvSpPr/>
          <p:nvPr/>
        </p:nvSpPr>
        <p:spPr>
          <a:xfrm>
            <a:off x="491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079" name="Kicker">
            <a:extLst>
              <a:ext uri="{FF2B5EF4-FFF2-40B4-BE49-F238E27FC236}">
                <a16:creationId xmlns:a16="http://schemas.microsoft.com/office/drawing/2014/main" id="{35C2646F-A519-1306-3D25-786BE6598885}"/>
              </a:ext>
            </a:extLst>
          </p:cNvPr>
          <p:cNvSpPr txBox="1"/>
          <p:nvPr/>
        </p:nvSpPr>
        <p:spPr>
          <a:xfrm>
            <a:off x="1066800" y="952500"/>
            <a:ext cx="10993733" cy="799735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8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Ejemplos</a:t>
            </a:r>
          </a:p>
        </p:txBody>
      </p:sp>
      <p:sp>
        <p:nvSpPr>
          <p:cNvPr id="1051" name="Text">
            <a:extLst>
              <a:ext uri="{FF2B5EF4-FFF2-40B4-BE49-F238E27FC236}">
                <a16:creationId xmlns:a16="http://schemas.microsoft.com/office/drawing/2014/main" id="{4C9F3D4F-96CE-5D05-99BC-3FD5444A5D17}"/>
              </a:ext>
            </a:extLst>
          </p:cNvPr>
          <p:cNvSpPr txBox="1"/>
          <p:nvPr/>
        </p:nvSpPr>
        <p:spPr>
          <a:xfrm>
            <a:off x="1248700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s-419" sz="1600" b="1" dirty="0">
              <a:solidFill>
                <a:srgbClr val="FFFFFF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303AD127-42F0-DB1F-2266-03E1EE65495F}"/>
              </a:ext>
            </a:extLst>
          </p:cNvPr>
          <p:cNvSpPr/>
          <p:nvPr/>
        </p:nvSpPr>
        <p:spPr>
          <a:xfrm>
            <a:off x="-600790" y="8648468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0" y="0"/>
                </a:lnTo>
                <a:lnTo>
                  <a:pt x="5654060" y="1017731"/>
                </a:lnTo>
                <a:lnTo>
                  <a:pt x="0" y="10177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pic>
        <p:nvPicPr>
          <p:cNvPr id="3" name="Imagen 2" descr="Walkie talkies con ESP-NOW: voz inalámbrica… · Blog MechatronicStore">
            <a:extLst>
              <a:ext uri="{FF2B5EF4-FFF2-40B4-BE49-F238E27FC236}">
                <a16:creationId xmlns:a16="http://schemas.microsoft.com/office/drawing/2014/main" id="{10252749-23E0-A96E-DD02-F91A131F36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700" y="6374295"/>
            <a:ext cx="3699247" cy="2774435"/>
          </a:xfrm>
          <a:prstGeom prst="rect">
            <a:avLst/>
          </a:prstGeom>
        </p:spPr>
      </p:pic>
      <p:pic>
        <p:nvPicPr>
          <p:cNvPr id="4" name="Imagen 3" descr="ESP32 remote control, can control your DIY robots and cars through LoRa,  WiFi, Bluetooth. #jlcpcb #esp32">
            <a:extLst>
              <a:ext uri="{FF2B5EF4-FFF2-40B4-BE49-F238E27FC236}">
                <a16:creationId xmlns:a16="http://schemas.microsoft.com/office/drawing/2014/main" id="{2FBA3FA3-05D9-8871-7452-49515F9A857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217" b="10498"/>
          <a:stretch>
            <a:fillRect/>
          </a:stretch>
        </p:blipFill>
        <p:spPr>
          <a:xfrm>
            <a:off x="1728699" y="2704735"/>
            <a:ext cx="3699247" cy="2895965"/>
          </a:xfrm>
          <a:prstGeom prst="rect">
            <a:avLst/>
          </a:prstGeom>
        </p:spPr>
      </p:pic>
      <p:pic>
        <p:nvPicPr>
          <p:cNvPr id="5" name="Imagen 4" descr="Kit de domótica DIY con ESP32">
            <a:extLst>
              <a:ext uri="{FF2B5EF4-FFF2-40B4-BE49-F238E27FC236}">
                <a16:creationId xmlns:a16="http://schemas.microsoft.com/office/drawing/2014/main" id="{DAC7F10A-BC02-A9FD-F3D2-DB3A85DB91B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4511" b="12941"/>
          <a:stretch>
            <a:fillRect/>
          </a:stretch>
        </p:blipFill>
        <p:spPr>
          <a:xfrm>
            <a:off x="7294375" y="2819216"/>
            <a:ext cx="3858041" cy="2781483"/>
          </a:xfrm>
          <a:prstGeom prst="rect">
            <a:avLst/>
          </a:prstGeom>
        </p:spPr>
      </p:pic>
      <p:pic>
        <p:nvPicPr>
          <p:cNvPr id="6" name="Imagen 5" descr="ESP32-S3-Pico-Sensor-Kit-B with ESP32-S3-Pico-M and sensors - Waveshare  24319 - Kamami on-line store">
            <a:extLst>
              <a:ext uri="{FF2B5EF4-FFF2-40B4-BE49-F238E27FC236}">
                <a16:creationId xmlns:a16="http://schemas.microsoft.com/office/drawing/2014/main" id="{B81EC8A5-9D04-548D-04B7-CBBF790A238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001" t="17995" r="7000" b="18999"/>
          <a:stretch>
            <a:fillRect/>
          </a:stretch>
        </p:blipFill>
        <p:spPr>
          <a:xfrm>
            <a:off x="7294375" y="6367247"/>
            <a:ext cx="3840803" cy="2781483"/>
          </a:xfrm>
          <a:prstGeom prst="rect">
            <a:avLst/>
          </a:prstGeom>
        </p:spPr>
      </p:pic>
      <p:pic>
        <p:nvPicPr>
          <p:cNvPr id="7" name="Imagen 6" descr="7 NeoPixel Projects That are Ridiculously Cool - Learn Robotics">
            <a:extLst>
              <a:ext uri="{FF2B5EF4-FFF2-40B4-BE49-F238E27FC236}">
                <a16:creationId xmlns:a16="http://schemas.microsoft.com/office/drawing/2014/main" id="{BF0B3837-DC7E-97B4-F25C-741948DE4E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81259" y="2819216"/>
            <a:ext cx="3858041" cy="2893531"/>
          </a:xfrm>
          <a:prstGeom prst="rect">
            <a:avLst/>
          </a:prstGeom>
        </p:spPr>
      </p:pic>
      <p:pic>
        <p:nvPicPr>
          <p:cNvPr id="9" name="Imagen 8" descr="ESP32 Desk Companion Robot with Wheels - Hackster.io">
            <a:extLst>
              <a:ext uri="{FF2B5EF4-FFF2-40B4-BE49-F238E27FC236}">
                <a16:creationId xmlns:a16="http://schemas.microsoft.com/office/drawing/2014/main" id="{661269D6-4360-CEF6-0EA8-326B7C3CBA8C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2226" t="25278" r="27553" b="6622"/>
          <a:stretch>
            <a:fillRect/>
          </a:stretch>
        </p:blipFill>
        <p:spPr>
          <a:xfrm>
            <a:off x="13159136" y="6387814"/>
            <a:ext cx="3400164" cy="2883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58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087" name="Title"/>
          <p:cNvSpPr txBox="1"/>
          <p:nvPr/>
        </p:nvSpPr>
        <p:spPr>
          <a:xfrm>
            <a:off x="1028700" y="646131"/>
            <a:ext cx="14000000" cy="9000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8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Aplicaciones industriales y críticas</a:t>
            </a:r>
          </a:p>
        </p:txBody>
      </p:sp>
      <p:sp>
        <p:nvSpPr>
          <p:cNvPr id="1081" name="Text"/>
          <p:cNvSpPr txBox="1"/>
          <p:nvPr/>
        </p:nvSpPr>
        <p:spPr>
          <a:xfrm>
            <a:off x="1028700" y="2820000"/>
            <a:ext cx="75000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endParaRPr lang="es-419" sz="1700" b="1" dirty="0">
              <a:solidFill>
                <a:srgbClr val="A173FD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082" name="Text"/>
          <p:cNvSpPr txBox="1"/>
          <p:nvPr/>
        </p:nvSpPr>
        <p:spPr>
          <a:xfrm>
            <a:off x="1028700" y="2611125"/>
            <a:ext cx="7500000" cy="5060000"/>
          </a:xfrm>
          <a:prstGeom prst="rect">
            <a:avLst/>
          </a:prstGeo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s-419" sz="32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Prototipado rápido de redes de sensores IoT en planta</a:t>
            </a:r>
          </a:p>
          <a:p>
            <a:pPr marL="285750" indent="-285750">
              <a:spcBef>
                <a:spcPts val="1700"/>
              </a:spcBef>
              <a:buFont typeface="Arial"/>
              <a:buChar char="•"/>
            </a:pPr>
            <a:r>
              <a:rPr lang="es-419" sz="32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Monitoreo distribuido de bajo costo (temperatura, vibración, nivel)</a:t>
            </a:r>
          </a:p>
          <a:p>
            <a:pPr marL="285750" indent="-285750">
              <a:spcBef>
                <a:spcPts val="1700"/>
              </a:spcBef>
              <a:buFont typeface="Arial"/>
              <a:buChar char="•"/>
            </a:pPr>
            <a:r>
              <a:rPr lang="es-419" sz="32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Redes de sensores agrícolas en campo abierto</a:t>
            </a:r>
          </a:p>
          <a:p>
            <a:pPr marL="285750" indent="-285750">
              <a:spcBef>
                <a:spcPts val="1700"/>
              </a:spcBef>
              <a:buFont typeface="Arial"/>
              <a:buChar char="•"/>
            </a:pPr>
            <a:r>
              <a:rPr lang="es-419" sz="32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Telemetría de máquinas donde el Wi-Fi/cableado no llega</a:t>
            </a:r>
          </a:p>
        </p:txBody>
      </p:sp>
      <p:sp>
        <p:nvSpPr>
          <p:cNvPr id="1083" name="Card"/>
          <p:cNvSpPr/>
          <p:nvPr/>
        </p:nvSpPr>
        <p:spPr>
          <a:xfrm>
            <a:off x="9114503" y="1677750"/>
            <a:ext cx="8330600" cy="2704500"/>
          </a:xfrm>
          <a:prstGeom prst="roundRect">
            <a:avLst>
              <a:gd name="adj" fmla="val 6000"/>
            </a:avLst>
          </a:prstGeom>
          <a:solidFill>
            <a:srgbClr val="2A1414"/>
          </a:solidFill>
          <a:ln w="12700">
            <a:solidFill>
              <a:srgbClr val="F87171"/>
            </a:solidFill>
          </a:ln>
        </p:spPr>
        <p:txBody>
          <a:bodyPr/>
          <a:lstStyle/>
          <a:p>
            <a:endParaRPr lang="es-419"/>
          </a:p>
        </p:txBody>
      </p:sp>
      <p:sp>
        <p:nvSpPr>
          <p:cNvPr id="1084" name="Text"/>
          <p:cNvSpPr txBox="1"/>
          <p:nvPr/>
        </p:nvSpPr>
        <p:spPr>
          <a:xfrm>
            <a:off x="9464503" y="1767750"/>
            <a:ext cx="7630600" cy="50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⚠  No es para todo: límites a tener presentes</a:t>
            </a:r>
          </a:p>
        </p:txBody>
      </p:sp>
      <p:sp>
        <p:nvSpPr>
          <p:cNvPr id="1085" name="Text"/>
          <p:cNvSpPr txBox="1"/>
          <p:nvPr/>
        </p:nvSpPr>
        <p:spPr>
          <a:xfrm>
            <a:off x="9593050" y="2473392"/>
            <a:ext cx="7630600" cy="1273500"/>
          </a:xfrm>
          <a:prstGeom prst="rect">
            <a:avLst/>
          </a:prstGeom>
        </p:spPr>
        <p:txBody>
          <a:bodyPr lIns="0" tIns="0" rIns="0" bIns="0" anchor="t"/>
          <a:lstStyle/>
          <a:p>
            <a:pPr marL="285750" indent="-285750">
              <a:spcBef>
                <a:spcPts val="16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Seguridad opcional y básica (CCMP) — no pensada para entornos hostiles sin capas extra.</a:t>
            </a:r>
          </a:p>
          <a:p>
            <a:pPr marL="285750" indent="-285750">
              <a:spcBef>
                <a:spcPts val="1600"/>
              </a:spcBef>
              <a:buFont typeface="Arial"/>
              <a:buChar char="•"/>
            </a:pPr>
            <a:r>
              <a:rPr lang="es-419" sz="2400" dirty="0">
                <a:solidFill>
                  <a:srgbClr val="FFFFFF"/>
                </a:solidFill>
                <a:latin typeface="TT Norms"/>
                <a:ea typeface="TT Norms"/>
                <a:cs typeface="TT Norms"/>
                <a:sym typeface="TT Norms"/>
              </a:rPr>
              <a:t>No apto, por sí solo, para control de seguridad funcional (paros de emergencia, frenos, etc.).</a:t>
            </a:r>
          </a:p>
        </p:txBody>
      </p:sp>
      <p:sp>
        <p:nvSpPr>
          <p:cNvPr id="16" name="Freeform 16"/>
          <p:cNvSpPr/>
          <p:nvPr/>
        </p:nvSpPr>
        <p:spPr>
          <a:xfrm>
            <a:off x="-271776" y="8736118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1"/>
                </a:lnTo>
                <a:lnTo>
                  <a:pt x="0" y="10177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120DF3-0CBB-A114-F9FF-BEDA4D64E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400" y="4542534"/>
            <a:ext cx="6168325" cy="51578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3680A-D2D5-B60F-A3B2-8B9125957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CC268EF-4F40-3274-EAFE-7BFC579A48F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087" name="Title">
            <a:extLst>
              <a:ext uri="{FF2B5EF4-FFF2-40B4-BE49-F238E27FC236}">
                <a16:creationId xmlns:a16="http://schemas.microsoft.com/office/drawing/2014/main" id="{EC3166CA-9A56-850C-5C20-4B9B9EC809A3}"/>
              </a:ext>
            </a:extLst>
          </p:cNvPr>
          <p:cNvSpPr txBox="1"/>
          <p:nvPr/>
        </p:nvSpPr>
        <p:spPr>
          <a:xfrm>
            <a:off x="1028700" y="646131"/>
            <a:ext cx="14000000" cy="9000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8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Ejemplo</a:t>
            </a:r>
          </a:p>
        </p:txBody>
      </p:sp>
      <p:sp>
        <p:nvSpPr>
          <p:cNvPr id="1081" name="Text">
            <a:extLst>
              <a:ext uri="{FF2B5EF4-FFF2-40B4-BE49-F238E27FC236}">
                <a16:creationId xmlns:a16="http://schemas.microsoft.com/office/drawing/2014/main" id="{A1B634A4-00C4-46AE-8C7D-951629EFA7FF}"/>
              </a:ext>
            </a:extLst>
          </p:cNvPr>
          <p:cNvSpPr txBox="1"/>
          <p:nvPr/>
        </p:nvSpPr>
        <p:spPr>
          <a:xfrm>
            <a:off x="1028700" y="2820000"/>
            <a:ext cx="75000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endParaRPr lang="es-419" sz="1700" b="1" dirty="0">
              <a:solidFill>
                <a:srgbClr val="A173FD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6" name="Freeform 16">
            <a:extLst>
              <a:ext uri="{FF2B5EF4-FFF2-40B4-BE49-F238E27FC236}">
                <a16:creationId xmlns:a16="http://schemas.microsoft.com/office/drawing/2014/main" id="{7A0B6D1B-03B6-1AEE-7B89-F53F160AC8FF}"/>
              </a:ext>
            </a:extLst>
          </p:cNvPr>
          <p:cNvSpPr/>
          <p:nvPr/>
        </p:nvSpPr>
        <p:spPr>
          <a:xfrm>
            <a:off x="-271776" y="8736118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1"/>
                </a:lnTo>
                <a:lnTo>
                  <a:pt x="0" y="10177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2CD7F9B-906F-2CA7-AE63-7F4853309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07" y="3231027"/>
            <a:ext cx="5413013" cy="4526265"/>
          </a:xfrm>
          <a:prstGeom prst="rect">
            <a:avLst/>
          </a:prstGeom>
        </p:spPr>
      </p:pic>
      <p:pic>
        <p:nvPicPr>
          <p:cNvPr id="3" name="Imagen 2" descr="ESP32 Industrial Controller | DIN Rail IoT PLC | NORVI">
            <a:extLst>
              <a:ext uri="{FF2B5EF4-FFF2-40B4-BE49-F238E27FC236}">
                <a16:creationId xmlns:a16="http://schemas.microsoft.com/office/drawing/2014/main" id="{634A1956-DC0F-5638-1B4B-D101133BF57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383" t="17959" r="22264" b="14368"/>
          <a:stretch>
            <a:fillRect/>
          </a:stretch>
        </p:blipFill>
        <p:spPr>
          <a:xfrm>
            <a:off x="7220602" y="2820000"/>
            <a:ext cx="4295116" cy="5157844"/>
          </a:xfrm>
          <a:prstGeom prst="rect">
            <a:avLst/>
          </a:prstGeom>
        </p:spPr>
      </p:pic>
      <p:pic>
        <p:nvPicPr>
          <p:cNvPr id="5" name="Imagen 4" descr="Preprints 170582 g006">
            <a:extLst>
              <a:ext uri="{FF2B5EF4-FFF2-40B4-BE49-F238E27FC236}">
                <a16:creationId xmlns:a16="http://schemas.microsoft.com/office/drawing/2014/main" id="{99BDB477-6B17-6574-6861-84D8171D5C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0610" y="2820001"/>
            <a:ext cx="5136180" cy="515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8729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102" name="Kicker"/>
          <p:cNvSpPr txBox="1"/>
          <p:nvPr/>
        </p:nvSpPr>
        <p:spPr>
          <a:xfrm>
            <a:off x="1028700" y="1450000"/>
            <a:ext cx="13601700" cy="850166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ES" sz="48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¿Qué placas ESP soportan ESP-NOW?</a:t>
            </a:r>
          </a:p>
        </p:txBody>
      </p:sp>
      <p:sp>
        <p:nvSpPr>
          <p:cNvPr id="1088" name="Card"/>
          <p:cNvSpPr/>
          <p:nvPr/>
        </p:nvSpPr>
        <p:spPr>
          <a:xfrm>
            <a:off x="1028700" y="2819999"/>
            <a:ext cx="3862650" cy="5409601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89" name="Text"/>
          <p:cNvSpPr txBox="1"/>
          <p:nvPr/>
        </p:nvSpPr>
        <p:spPr>
          <a:xfrm>
            <a:off x="1248700" y="3020000"/>
            <a:ext cx="342265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6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ESP32</a:t>
            </a:r>
            <a:endParaRPr lang="es-419" sz="2400" b="1" dirty="0">
              <a:solidFill>
                <a:srgbClr val="FFFFFF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090" name="Text"/>
          <p:cNvSpPr txBox="1"/>
          <p:nvPr/>
        </p:nvSpPr>
        <p:spPr>
          <a:xfrm>
            <a:off x="1248700" y="3559966"/>
            <a:ext cx="3422650" cy="821534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Original, dual-</a:t>
            </a:r>
            <a:r>
              <a:rPr lang="es-419" sz="2000" dirty="0" err="1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core,soporte</a:t>
            </a: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 completo</a:t>
            </a:r>
          </a:p>
        </p:txBody>
      </p:sp>
      <p:sp>
        <p:nvSpPr>
          <p:cNvPr id="1091" name="Card"/>
          <p:cNvSpPr/>
          <p:nvPr/>
        </p:nvSpPr>
        <p:spPr>
          <a:xfrm>
            <a:off x="5151350" y="2820000"/>
            <a:ext cx="3862650" cy="54096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92" name="Text"/>
          <p:cNvSpPr txBox="1"/>
          <p:nvPr/>
        </p:nvSpPr>
        <p:spPr>
          <a:xfrm>
            <a:off x="5371350" y="3020000"/>
            <a:ext cx="342265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36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ESP32-S2 / S3</a:t>
            </a:r>
          </a:p>
        </p:txBody>
      </p:sp>
      <p:sp>
        <p:nvSpPr>
          <p:cNvPr id="1093" name="Text"/>
          <p:cNvSpPr txBox="1"/>
          <p:nvPr/>
        </p:nvSpPr>
        <p:spPr>
          <a:xfrm>
            <a:off x="5382284" y="3640000"/>
            <a:ext cx="3422650" cy="227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Con USB nativo, soporte completo</a:t>
            </a:r>
          </a:p>
        </p:txBody>
      </p:sp>
      <p:sp>
        <p:nvSpPr>
          <p:cNvPr id="1094" name="Card"/>
          <p:cNvSpPr/>
          <p:nvPr/>
        </p:nvSpPr>
        <p:spPr>
          <a:xfrm>
            <a:off x="9274000" y="2820000"/>
            <a:ext cx="3862650" cy="54096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95" name="Text"/>
          <p:cNvSpPr txBox="1"/>
          <p:nvPr/>
        </p:nvSpPr>
        <p:spPr>
          <a:xfrm>
            <a:off x="9494000" y="3020000"/>
            <a:ext cx="342265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ESP32-C3 / C6 / H2</a:t>
            </a:r>
          </a:p>
        </p:txBody>
      </p:sp>
      <p:sp>
        <p:nvSpPr>
          <p:cNvPr id="1096" name="Text"/>
          <p:cNvSpPr txBox="1"/>
          <p:nvPr/>
        </p:nvSpPr>
        <p:spPr>
          <a:xfrm>
            <a:off x="9494000" y="3450000"/>
            <a:ext cx="3422650" cy="8553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RISC-V, bajo costo — soporte completo</a:t>
            </a:r>
          </a:p>
        </p:txBody>
      </p:sp>
      <p:sp>
        <p:nvSpPr>
          <p:cNvPr id="1097" name="Card"/>
          <p:cNvSpPr/>
          <p:nvPr/>
        </p:nvSpPr>
        <p:spPr>
          <a:xfrm>
            <a:off x="13396650" y="2820000"/>
            <a:ext cx="3862650" cy="54096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098" name="Text"/>
          <p:cNvSpPr txBox="1"/>
          <p:nvPr/>
        </p:nvSpPr>
        <p:spPr>
          <a:xfrm>
            <a:off x="13616650" y="3020000"/>
            <a:ext cx="342265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ESP8266</a:t>
            </a:r>
          </a:p>
        </p:txBody>
      </p:sp>
      <p:sp>
        <p:nvSpPr>
          <p:cNvPr id="1099" name="Text"/>
          <p:cNvSpPr txBox="1"/>
          <p:nvPr/>
        </p:nvSpPr>
        <p:spPr>
          <a:xfrm>
            <a:off x="13616650" y="3450000"/>
            <a:ext cx="3422650" cy="8553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Soporte parcial — menos peers cifrados</a:t>
            </a:r>
          </a:p>
        </p:txBody>
      </p:sp>
      <p:sp>
        <p:nvSpPr>
          <p:cNvPr id="18" name="Freeform 18"/>
          <p:cNvSpPr/>
          <p:nvPr/>
        </p:nvSpPr>
        <p:spPr>
          <a:xfrm>
            <a:off x="-271776" y="8749435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pic>
        <p:nvPicPr>
          <p:cNvPr id="3" name="Imagen 2" descr="MÓDULO ESP32 WIFI + BLUETOOTH ANTENA, CHIP CP2102, MO-ESP32">
            <a:extLst>
              <a:ext uri="{FF2B5EF4-FFF2-40B4-BE49-F238E27FC236}">
                <a16:creationId xmlns:a16="http://schemas.microsoft.com/office/drawing/2014/main" id="{5AF71D08-971A-4B42-61DF-BC07D40C8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6577" y="4510848"/>
            <a:ext cx="3452052" cy="3452052"/>
          </a:xfrm>
          <a:prstGeom prst="rect">
            <a:avLst/>
          </a:prstGeom>
        </p:spPr>
      </p:pic>
      <p:pic>
        <p:nvPicPr>
          <p:cNvPr id="4" name="Imagen 3" descr="ESP32-S3-N16R8 Development Board WIFI and Bluetooth - Most Electronics">
            <a:extLst>
              <a:ext uri="{FF2B5EF4-FFF2-40B4-BE49-F238E27FC236}">
                <a16:creationId xmlns:a16="http://schemas.microsoft.com/office/drawing/2014/main" id="{F7A1DEF0-D7B1-9741-A823-53372B4160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1684" y="4546825"/>
            <a:ext cx="3422649" cy="3422649"/>
          </a:xfrm>
          <a:prstGeom prst="rect">
            <a:avLst/>
          </a:prstGeom>
        </p:spPr>
      </p:pic>
      <p:pic>
        <p:nvPicPr>
          <p:cNvPr id="5" name="Imagen 4" descr="ESP32-C6-DevKitC-1 v1.1 - ESP32-C6 - — esp-dev-kits latest documentation">
            <a:extLst>
              <a:ext uri="{FF2B5EF4-FFF2-40B4-BE49-F238E27FC236}">
                <a16:creationId xmlns:a16="http://schemas.microsoft.com/office/drawing/2014/main" id="{4DD2E278-5190-1776-3321-CEE94D4853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5844" y="5071795"/>
            <a:ext cx="3574356" cy="2777705"/>
          </a:xfrm>
          <a:prstGeom prst="rect">
            <a:avLst/>
          </a:prstGeom>
        </p:spPr>
      </p:pic>
      <p:pic>
        <p:nvPicPr>
          <p:cNvPr id="6" name="Imagen 5" descr="NodeMcu Wifi Esp8266 esp-12e - Electrónica DIY Guatemala">
            <a:extLst>
              <a:ext uri="{FF2B5EF4-FFF2-40B4-BE49-F238E27FC236}">
                <a16:creationId xmlns:a16="http://schemas.microsoft.com/office/drawing/2014/main" id="{3F8FDC87-EBC6-E416-8C49-5CD6B536FB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616650" y="4485038"/>
            <a:ext cx="3477862" cy="34778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122" name="Kicker"/>
          <p:cNvSpPr txBox="1"/>
          <p:nvPr/>
        </p:nvSpPr>
        <p:spPr>
          <a:xfrm>
            <a:off x="1028700" y="1871627"/>
            <a:ext cx="9000000" cy="2600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4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Cómo empezar con ESP-NOW</a:t>
            </a:r>
          </a:p>
        </p:txBody>
      </p:sp>
      <p:sp>
        <p:nvSpPr>
          <p:cNvPr id="1104" name="Card"/>
          <p:cNvSpPr/>
          <p:nvPr/>
        </p:nvSpPr>
        <p:spPr>
          <a:xfrm>
            <a:off x="1028700" y="282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05" name="Text"/>
          <p:cNvSpPr txBox="1"/>
          <p:nvPr/>
        </p:nvSpPr>
        <p:spPr>
          <a:xfrm>
            <a:off x="1248700" y="302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1. Instala el soporte ESP32</a:t>
            </a:r>
          </a:p>
        </p:txBody>
      </p:sp>
      <p:sp>
        <p:nvSpPr>
          <p:cNvPr id="1106" name="Text"/>
          <p:cNvSpPr txBox="1"/>
          <p:nvPr/>
        </p:nvSpPr>
        <p:spPr>
          <a:xfrm>
            <a:off x="1248700" y="345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Arduino IDE → Boards Manager → “esp32” (Espressif Systems).</a:t>
            </a:r>
          </a:p>
        </p:txBody>
      </p:sp>
      <p:sp>
        <p:nvSpPr>
          <p:cNvPr id="1107" name="Card"/>
          <p:cNvSpPr/>
          <p:nvPr/>
        </p:nvSpPr>
        <p:spPr>
          <a:xfrm>
            <a:off x="9274000" y="282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08" name="Text"/>
          <p:cNvSpPr txBox="1"/>
          <p:nvPr/>
        </p:nvSpPr>
        <p:spPr>
          <a:xfrm>
            <a:off x="9494000" y="302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2. Incluye las librerías</a:t>
            </a:r>
          </a:p>
        </p:txBody>
      </p:sp>
      <p:sp>
        <p:nvSpPr>
          <p:cNvPr id="1109" name="Text"/>
          <p:cNvSpPr txBox="1"/>
          <p:nvPr/>
        </p:nvSpPr>
        <p:spPr>
          <a:xfrm>
            <a:off x="9494000" y="345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#include &lt;WiFi.h&gt;  y  #include &lt;esp_now.h&gt;</a:t>
            </a:r>
          </a:p>
        </p:txBody>
      </p:sp>
      <p:sp>
        <p:nvSpPr>
          <p:cNvPr id="1110" name="Card"/>
          <p:cNvSpPr/>
          <p:nvPr/>
        </p:nvSpPr>
        <p:spPr>
          <a:xfrm>
            <a:off x="1028700" y="480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11" name="Text"/>
          <p:cNvSpPr txBox="1"/>
          <p:nvPr/>
        </p:nvSpPr>
        <p:spPr>
          <a:xfrm>
            <a:off x="1248700" y="500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3. Fija el modo y el canal</a:t>
            </a:r>
          </a:p>
        </p:txBody>
      </p:sp>
      <p:sp>
        <p:nvSpPr>
          <p:cNvPr id="1112" name="Text"/>
          <p:cNvSpPr txBox="1"/>
          <p:nvPr/>
        </p:nvSpPr>
        <p:spPr>
          <a:xfrm>
            <a:off x="1248700" y="543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WiFi.mode(WIFI_STA); esp_wifi_set_channel(canal, ...);</a:t>
            </a:r>
          </a:p>
        </p:txBody>
      </p:sp>
      <p:sp>
        <p:nvSpPr>
          <p:cNvPr id="1113" name="Card"/>
          <p:cNvSpPr/>
          <p:nvPr/>
        </p:nvSpPr>
        <p:spPr>
          <a:xfrm>
            <a:off x="9274000" y="480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14" name="Text"/>
          <p:cNvSpPr txBox="1"/>
          <p:nvPr/>
        </p:nvSpPr>
        <p:spPr>
          <a:xfrm>
            <a:off x="9494000" y="500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4. Inicializa ESP-NOW</a:t>
            </a:r>
          </a:p>
        </p:txBody>
      </p:sp>
      <p:sp>
        <p:nvSpPr>
          <p:cNvPr id="1115" name="Text"/>
          <p:cNvSpPr txBox="1"/>
          <p:nvPr/>
        </p:nvSpPr>
        <p:spPr>
          <a:xfrm>
            <a:off x="9494000" y="543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esp_now_init();  — revisa que devuelva ESP_OK.</a:t>
            </a:r>
          </a:p>
        </p:txBody>
      </p:sp>
      <p:sp>
        <p:nvSpPr>
          <p:cNvPr id="1116" name="Card"/>
          <p:cNvSpPr/>
          <p:nvPr/>
        </p:nvSpPr>
        <p:spPr>
          <a:xfrm>
            <a:off x="1028700" y="678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17" name="Text"/>
          <p:cNvSpPr txBox="1"/>
          <p:nvPr/>
        </p:nvSpPr>
        <p:spPr>
          <a:xfrm>
            <a:off x="1248700" y="698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5. Registra tus callbacks</a:t>
            </a:r>
          </a:p>
        </p:txBody>
      </p:sp>
      <p:sp>
        <p:nvSpPr>
          <p:cNvPr id="1118" name="Text"/>
          <p:cNvSpPr txBox="1"/>
          <p:nvPr/>
        </p:nvSpPr>
        <p:spPr>
          <a:xfrm>
            <a:off x="1248700" y="741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esp_now_register_recv_cb(onRecv); para recibir datos.</a:t>
            </a:r>
          </a:p>
        </p:txBody>
      </p:sp>
      <p:sp>
        <p:nvSpPr>
          <p:cNvPr id="1119" name="Card"/>
          <p:cNvSpPr/>
          <p:nvPr/>
        </p:nvSpPr>
        <p:spPr>
          <a:xfrm>
            <a:off x="9274000" y="678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20" name="Text"/>
          <p:cNvSpPr txBox="1"/>
          <p:nvPr/>
        </p:nvSpPr>
        <p:spPr>
          <a:xfrm>
            <a:off x="9494000" y="698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6. Agrega un peer y envía</a:t>
            </a:r>
          </a:p>
        </p:txBody>
      </p:sp>
      <p:sp>
        <p:nvSpPr>
          <p:cNvPr id="1121" name="Text"/>
          <p:cNvSpPr txBox="1"/>
          <p:nvPr/>
        </p:nvSpPr>
        <p:spPr>
          <a:xfrm>
            <a:off x="9494000" y="741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esp_now_add_peer(...); luego esp_now_send(mac, datos, len);</a:t>
            </a:r>
          </a:p>
        </p:txBody>
      </p:sp>
      <p:sp>
        <p:nvSpPr>
          <p:cNvPr id="18" name="Freeform 18"/>
          <p:cNvSpPr/>
          <p:nvPr/>
        </p:nvSpPr>
        <p:spPr>
          <a:xfrm>
            <a:off x="-271776" y="8749435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156" name="Title"/>
          <p:cNvSpPr txBox="1"/>
          <p:nvPr/>
        </p:nvSpPr>
        <p:spPr>
          <a:xfrm>
            <a:off x="1028700" y="2160000"/>
            <a:ext cx="14000000" cy="9000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38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MeshNow: ESP-NOW multi-salto</a:t>
            </a:r>
          </a:p>
        </p:txBody>
      </p:sp>
      <p:sp>
        <p:nvSpPr>
          <p:cNvPr id="1125" name="Card"/>
          <p:cNvSpPr/>
          <p:nvPr/>
        </p:nvSpPr>
        <p:spPr>
          <a:xfrm>
            <a:off x="1028700" y="3320000"/>
            <a:ext cx="5236866" cy="246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26" name="Card"/>
          <p:cNvSpPr/>
          <p:nvPr/>
        </p:nvSpPr>
        <p:spPr>
          <a:xfrm>
            <a:off x="1248700" y="35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27" name="Text"/>
          <p:cNvSpPr txBox="1"/>
          <p:nvPr/>
        </p:nvSpPr>
        <p:spPr>
          <a:xfrm>
            <a:off x="1248700" y="35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1</a:t>
            </a:r>
            <a:endParaRPr lang="es-419" sz="1600" b="1" dirty="0">
              <a:solidFill>
                <a:srgbClr val="FFFFFF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  <p:sp>
        <p:nvSpPr>
          <p:cNvPr id="1128" name="Text"/>
          <p:cNvSpPr txBox="1"/>
          <p:nvPr/>
        </p:nvSpPr>
        <p:spPr>
          <a:xfrm>
            <a:off x="1248700" y="41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Pantalla OLED (SH1106)</a:t>
            </a:r>
          </a:p>
        </p:txBody>
      </p:sp>
      <p:sp>
        <p:nvSpPr>
          <p:cNvPr id="1129" name="Text"/>
          <p:cNvSpPr txBox="1"/>
          <p:nvPr/>
        </p:nvSpPr>
        <p:spPr>
          <a:xfrm>
            <a:off x="1248700" y="4580000"/>
            <a:ext cx="4796866" cy="120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Menú con métricas, vecinos, ping y scanner RSSI en vivo</a:t>
            </a:r>
          </a:p>
        </p:txBody>
      </p:sp>
      <p:sp>
        <p:nvSpPr>
          <p:cNvPr id="1130" name="Card"/>
          <p:cNvSpPr/>
          <p:nvPr/>
        </p:nvSpPr>
        <p:spPr>
          <a:xfrm>
            <a:off x="6525566" y="3320000"/>
            <a:ext cx="5236866" cy="246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31" name="Card"/>
          <p:cNvSpPr/>
          <p:nvPr/>
        </p:nvSpPr>
        <p:spPr>
          <a:xfrm>
            <a:off x="6745566" y="35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32" name="Text"/>
          <p:cNvSpPr txBox="1"/>
          <p:nvPr/>
        </p:nvSpPr>
        <p:spPr>
          <a:xfrm>
            <a:off x="6745566" y="35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2</a:t>
            </a:r>
          </a:p>
        </p:txBody>
      </p:sp>
      <p:sp>
        <p:nvSpPr>
          <p:cNvPr id="1133" name="Text"/>
          <p:cNvSpPr txBox="1"/>
          <p:nvPr/>
        </p:nvSpPr>
        <p:spPr>
          <a:xfrm>
            <a:off x="6745566" y="41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Multi-salto con TTL</a:t>
            </a:r>
          </a:p>
        </p:txBody>
      </p:sp>
      <p:sp>
        <p:nvSpPr>
          <p:cNvPr id="1134" name="Text"/>
          <p:cNvSpPr txBox="1"/>
          <p:nvPr/>
        </p:nvSpPr>
        <p:spPr>
          <a:xfrm>
            <a:off x="6745566" y="4580000"/>
            <a:ext cx="4796866" cy="120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Flooding controlado — cada paquete tiene un límite de saltos</a:t>
            </a:r>
          </a:p>
        </p:txBody>
      </p:sp>
      <p:sp>
        <p:nvSpPr>
          <p:cNvPr id="1135" name="Card"/>
          <p:cNvSpPr/>
          <p:nvPr/>
        </p:nvSpPr>
        <p:spPr>
          <a:xfrm>
            <a:off x="12022433" y="3320000"/>
            <a:ext cx="5236866" cy="246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36" name="Card"/>
          <p:cNvSpPr/>
          <p:nvPr/>
        </p:nvSpPr>
        <p:spPr>
          <a:xfrm>
            <a:off x="12242433" y="35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37" name="Text"/>
          <p:cNvSpPr txBox="1"/>
          <p:nvPr/>
        </p:nvSpPr>
        <p:spPr>
          <a:xfrm>
            <a:off x="12242433" y="35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3</a:t>
            </a:r>
          </a:p>
        </p:txBody>
      </p:sp>
      <p:sp>
        <p:nvSpPr>
          <p:cNvPr id="1138" name="Text"/>
          <p:cNvSpPr txBox="1"/>
          <p:nvPr/>
        </p:nvSpPr>
        <p:spPr>
          <a:xfrm>
            <a:off x="12242433" y="41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1 maestro + N nodos</a:t>
            </a:r>
          </a:p>
        </p:txBody>
      </p:sp>
      <p:sp>
        <p:nvSpPr>
          <p:cNvPr id="1139" name="Text"/>
          <p:cNvSpPr txBox="1"/>
          <p:nvPr/>
        </p:nvSpPr>
        <p:spPr>
          <a:xfrm>
            <a:off x="12242433" y="4580000"/>
            <a:ext cx="4796866" cy="120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IS_MASTER en config.h decide el rol; mismo .ino para todos</a:t>
            </a:r>
          </a:p>
        </p:txBody>
      </p:sp>
      <p:sp>
        <p:nvSpPr>
          <p:cNvPr id="1140" name="Card"/>
          <p:cNvSpPr/>
          <p:nvPr/>
        </p:nvSpPr>
        <p:spPr>
          <a:xfrm>
            <a:off x="1028700" y="6040000"/>
            <a:ext cx="5236866" cy="246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41" name="Card"/>
          <p:cNvSpPr/>
          <p:nvPr/>
        </p:nvSpPr>
        <p:spPr>
          <a:xfrm>
            <a:off x="1248700" y="626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42" name="Text"/>
          <p:cNvSpPr txBox="1"/>
          <p:nvPr/>
        </p:nvSpPr>
        <p:spPr>
          <a:xfrm>
            <a:off x="1248700" y="626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4</a:t>
            </a:r>
          </a:p>
        </p:txBody>
      </p:sp>
      <p:sp>
        <p:nvSpPr>
          <p:cNvPr id="1143" name="Text"/>
          <p:cNvSpPr txBox="1"/>
          <p:nvPr/>
        </p:nvSpPr>
        <p:spPr>
          <a:xfrm>
            <a:off x="1248700" y="687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Modo PC / LabVIEW</a:t>
            </a:r>
          </a:p>
        </p:txBody>
      </p:sp>
      <p:sp>
        <p:nvSpPr>
          <p:cNvPr id="1144" name="Text"/>
          <p:cNvSpPr txBox="1"/>
          <p:nvPr/>
        </p:nvSpPr>
        <p:spPr>
          <a:xfrm>
            <a:off x="1248700" y="7300000"/>
            <a:ext cx="4796866" cy="120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El maestro expone una terminal por serial para controlar la malla</a:t>
            </a:r>
          </a:p>
        </p:txBody>
      </p:sp>
      <p:sp>
        <p:nvSpPr>
          <p:cNvPr id="1145" name="Card"/>
          <p:cNvSpPr/>
          <p:nvPr/>
        </p:nvSpPr>
        <p:spPr>
          <a:xfrm>
            <a:off x="6525566" y="6040000"/>
            <a:ext cx="5236866" cy="246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46" name="Card"/>
          <p:cNvSpPr/>
          <p:nvPr/>
        </p:nvSpPr>
        <p:spPr>
          <a:xfrm>
            <a:off x="6745566" y="626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47" name="Text"/>
          <p:cNvSpPr txBox="1"/>
          <p:nvPr/>
        </p:nvSpPr>
        <p:spPr>
          <a:xfrm>
            <a:off x="6745566" y="626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5</a:t>
            </a:r>
          </a:p>
        </p:txBody>
      </p:sp>
      <p:sp>
        <p:nvSpPr>
          <p:cNvPr id="1148" name="Text"/>
          <p:cNvSpPr txBox="1"/>
          <p:nvPr/>
        </p:nvSpPr>
        <p:spPr>
          <a:xfrm>
            <a:off x="6745566" y="687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Mensajería + “piano remoto”</a:t>
            </a:r>
          </a:p>
        </p:txBody>
      </p:sp>
      <p:sp>
        <p:nvSpPr>
          <p:cNvPr id="1149" name="Text"/>
          <p:cNvSpPr txBox="1"/>
          <p:nvPr/>
        </p:nvSpPr>
        <p:spPr>
          <a:xfrm>
            <a:off x="6745566" y="7300000"/>
            <a:ext cx="4796866" cy="120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Manda texto a todos o a un nodo, o hace sonar su buzzer</a:t>
            </a:r>
          </a:p>
        </p:txBody>
      </p:sp>
      <p:sp>
        <p:nvSpPr>
          <p:cNvPr id="1150" name="Card"/>
          <p:cNvSpPr/>
          <p:nvPr/>
        </p:nvSpPr>
        <p:spPr>
          <a:xfrm>
            <a:off x="12022433" y="6040000"/>
            <a:ext cx="5236866" cy="246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51" name="Card"/>
          <p:cNvSpPr/>
          <p:nvPr/>
        </p:nvSpPr>
        <p:spPr>
          <a:xfrm>
            <a:off x="12242433" y="626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52" name="Text"/>
          <p:cNvSpPr txBox="1"/>
          <p:nvPr/>
        </p:nvSpPr>
        <p:spPr>
          <a:xfrm>
            <a:off x="12242433" y="626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6</a:t>
            </a:r>
          </a:p>
        </p:txBody>
      </p:sp>
      <p:sp>
        <p:nvSpPr>
          <p:cNvPr id="1153" name="Text"/>
          <p:cNvSpPr txBox="1"/>
          <p:nvPr/>
        </p:nvSpPr>
        <p:spPr>
          <a:xfrm>
            <a:off x="12242433" y="687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Feedback físico</a:t>
            </a:r>
          </a:p>
        </p:txBody>
      </p:sp>
      <p:sp>
        <p:nvSpPr>
          <p:cNvPr id="1154" name="Text"/>
          <p:cNvSpPr txBox="1"/>
          <p:nvPr/>
        </p:nvSpPr>
        <p:spPr>
          <a:xfrm>
            <a:off x="12242433" y="7300000"/>
            <a:ext cx="4796866" cy="120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NeoPixels y buzzer confirman eventos (mensaje, botón, ping)</a:t>
            </a:r>
          </a:p>
        </p:txBody>
      </p:sp>
      <p:sp>
        <p:nvSpPr>
          <p:cNvPr id="15" name="Freeform 15"/>
          <p:cNvSpPr/>
          <p:nvPr/>
        </p:nvSpPr>
        <p:spPr>
          <a:xfrm>
            <a:off x="13424041" y="9258300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0" y="0"/>
                </a:lnTo>
                <a:lnTo>
                  <a:pt x="5654060" y="1017731"/>
                </a:lnTo>
                <a:lnTo>
                  <a:pt x="0" y="101773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175" name="Kicker"/>
          <p:cNvSpPr txBox="1"/>
          <p:nvPr/>
        </p:nvSpPr>
        <p:spPr>
          <a:xfrm>
            <a:off x="1028700" y="1945283"/>
            <a:ext cx="9000000" cy="625282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0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Arquitectura del Firmware</a:t>
            </a:r>
          </a:p>
        </p:txBody>
      </p:sp>
      <p:sp>
        <p:nvSpPr>
          <p:cNvPr id="1157" name="Card"/>
          <p:cNvSpPr/>
          <p:nvPr/>
        </p:nvSpPr>
        <p:spPr>
          <a:xfrm>
            <a:off x="1028700" y="282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58" name="Text"/>
          <p:cNvSpPr txBox="1"/>
          <p:nvPr/>
        </p:nvSpPr>
        <p:spPr>
          <a:xfrm>
            <a:off x="1248700" y="302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MeshNow.ino</a:t>
            </a:r>
          </a:p>
        </p:txBody>
      </p:sp>
      <p:sp>
        <p:nvSpPr>
          <p:cNvPr id="1159" name="Text"/>
          <p:cNvSpPr txBox="1"/>
          <p:nvPr/>
        </p:nvSpPr>
        <p:spPr>
          <a:xfrm>
            <a:off x="1248700" y="345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setup() / loop()  arranca todo y activa el ciclo principal</a:t>
            </a:r>
          </a:p>
        </p:txBody>
      </p:sp>
      <p:sp>
        <p:nvSpPr>
          <p:cNvPr id="1160" name="Card"/>
          <p:cNvSpPr/>
          <p:nvPr/>
        </p:nvSpPr>
        <p:spPr>
          <a:xfrm>
            <a:off x="9274000" y="282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61" name="Text"/>
          <p:cNvSpPr txBox="1"/>
          <p:nvPr/>
        </p:nvSpPr>
        <p:spPr>
          <a:xfrm>
            <a:off x="9494000" y="302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config.h</a:t>
            </a:r>
          </a:p>
        </p:txBody>
      </p:sp>
      <p:sp>
        <p:nvSpPr>
          <p:cNvPr id="1162" name="Text"/>
          <p:cNvSpPr txBox="1"/>
          <p:nvPr/>
        </p:nvSpPr>
        <p:spPr>
          <a:xfrm>
            <a:off x="9494000" y="345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Pines, parámetros de la malla (canal, TTL, timeouts) y IS_MASTER</a:t>
            </a:r>
          </a:p>
        </p:txBody>
      </p:sp>
      <p:sp>
        <p:nvSpPr>
          <p:cNvPr id="1163" name="Card"/>
          <p:cNvSpPr/>
          <p:nvPr/>
        </p:nvSpPr>
        <p:spPr>
          <a:xfrm>
            <a:off x="1028700" y="480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64" name="Text"/>
          <p:cNvSpPr txBox="1"/>
          <p:nvPr/>
        </p:nvSpPr>
        <p:spPr>
          <a:xfrm>
            <a:off x="1248700" y="500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mesh.h / mesh.cpp</a:t>
            </a:r>
          </a:p>
        </p:txBody>
      </p:sp>
      <p:sp>
        <p:nvSpPr>
          <p:cNvPr id="1165" name="Text"/>
          <p:cNvSpPr txBox="1"/>
          <p:nvPr/>
        </p:nvSpPr>
        <p:spPr>
          <a:xfrm>
            <a:off x="1248700" y="543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Núcleo ESP-NOW: init, envío, recepción y reenvío multi-salto</a:t>
            </a:r>
          </a:p>
        </p:txBody>
      </p:sp>
      <p:sp>
        <p:nvSpPr>
          <p:cNvPr id="1166" name="Card"/>
          <p:cNvSpPr/>
          <p:nvPr/>
        </p:nvSpPr>
        <p:spPr>
          <a:xfrm>
            <a:off x="9274000" y="480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67" name="Text"/>
          <p:cNvSpPr txBox="1"/>
          <p:nvPr/>
        </p:nvSpPr>
        <p:spPr>
          <a:xfrm>
            <a:off x="9494000" y="500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ui.h / ui.cpp</a:t>
            </a:r>
          </a:p>
        </p:txBody>
      </p:sp>
      <p:sp>
        <p:nvSpPr>
          <p:cNvPr id="1168" name="Text"/>
          <p:cNvSpPr txBox="1"/>
          <p:nvPr/>
        </p:nvSpPr>
        <p:spPr>
          <a:xfrm>
            <a:off x="9494000" y="543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Pantallas, menú y botones (máquina de estados de la OLED)</a:t>
            </a:r>
          </a:p>
        </p:txBody>
      </p:sp>
      <p:sp>
        <p:nvSpPr>
          <p:cNvPr id="1169" name="Card"/>
          <p:cNvSpPr/>
          <p:nvPr/>
        </p:nvSpPr>
        <p:spPr>
          <a:xfrm>
            <a:off x="1028700" y="678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70" name="Text"/>
          <p:cNvSpPr txBox="1"/>
          <p:nvPr/>
        </p:nvSpPr>
        <p:spPr>
          <a:xfrm>
            <a:off x="1248700" y="698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buzzer.h/.cpp · neopixel.h/.cpp</a:t>
            </a:r>
          </a:p>
        </p:txBody>
      </p:sp>
      <p:sp>
        <p:nvSpPr>
          <p:cNvPr id="1171" name="Text"/>
          <p:cNvSpPr txBox="1"/>
          <p:nvPr/>
        </p:nvSpPr>
        <p:spPr>
          <a:xfrm>
            <a:off x="1248700" y="741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Feedback físico: sonido y luces</a:t>
            </a:r>
          </a:p>
        </p:txBody>
      </p:sp>
      <p:sp>
        <p:nvSpPr>
          <p:cNvPr id="1172" name="Card"/>
          <p:cNvSpPr/>
          <p:nvPr/>
        </p:nvSpPr>
        <p:spPr>
          <a:xfrm>
            <a:off x="9274000" y="6780000"/>
            <a:ext cx="7985300" cy="172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73" name="Text"/>
          <p:cNvSpPr txBox="1"/>
          <p:nvPr/>
        </p:nvSpPr>
        <p:spPr>
          <a:xfrm>
            <a:off x="9494000" y="6980000"/>
            <a:ext cx="7545300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24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serialmaster.h / .cpp</a:t>
            </a:r>
          </a:p>
        </p:txBody>
      </p:sp>
      <p:sp>
        <p:nvSpPr>
          <p:cNvPr id="1174" name="Text"/>
          <p:cNvSpPr txBox="1"/>
          <p:nvPr/>
        </p:nvSpPr>
        <p:spPr>
          <a:xfrm>
            <a:off x="9494000" y="7410000"/>
            <a:ext cx="7545300" cy="109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Terminal “Modo PC” del nodo maestro (Para comunicación serial)</a:t>
            </a:r>
          </a:p>
        </p:txBody>
      </p:sp>
      <p:sp>
        <p:nvSpPr>
          <p:cNvPr id="18" name="Freeform 18"/>
          <p:cNvSpPr/>
          <p:nvPr/>
        </p:nvSpPr>
        <p:spPr>
          <a:xfrm>
            <a:off x="-271776" y="8749435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207" name="Kicker"/>
          <p:cNvSpPr txBox="1"/>
          <p:nvPr/>
        </p:nvSpPr>
        <p:spPr>
          <a:xfrm>
            <a:off x="1028700" y="1847450"/>
            <a:ext cx="9000000" cy="7217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ES" sz="44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Cómo lo vamos a probar hoy</a:t>
            </a:r>
          </a:p>
        </p:txBody>
      </p:sp>
      <p:sp>
        <p:nvSpPr>
          <p:cNvPr id="1177" name="Card"/>
          <p:cNvSpPr/>
          <p:nvPr/>
        </p:nvSpPr>
        <p:spPr>
          <a:xfrm>
            <a:off x="1028700" y="282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78" name="Card"/>
          <p:cNvSpPr/>
          <p:nvPr/>
        </p:nvSpPr>
        <p:spPr>
          <a:xfrm>
            <a:off x="1248700" y="30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79" name="Text"/>
          <p:cNvSpPr txBox="1"/>
          <p:nvPr/>
        </p:nvSpPr>
        <p:spPr>
          <a:xfrm>
            <a:off x="1248700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1</a:t>
            </a:r>
          </a:p>
        </p:txBody>
      </p:sp>
      <p:sp>
        <p:nvSpPr>
          <p:cNvPr id="1180" name="Text"/>
          <p:cNvSpPr txBox="1"/>
          <p:nvPr/>
        </p:nvSpPr>
        <p:spPr>
          <a:xfrm>
            <a:off x="1248700" y="36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Flashea el maestro</a:t>
            </a:r>
          </a:p>
        </p:txBody>
      </p:sp>
      <p:sp>
        <p:nvSpPr>
          <p:cNvPr id="1181" name="Text"/>
          <p:cNvSpPr txBox="1"/>
          <p:nvPr/>
        </p:nvSpPr>
        <p:spPr>
          <a:xfrm>
            <a:off x="1248700" y="408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En config.h, deja IS_MASTER = 1 en la placa que vas a conectar a la PC.</a:t>
            </a:r>
          </a:p>
        </p:txBody>
      </p:sp>
      <p:sp>
        <p:nvSpPr>
          <p:cNvPr id="1182" name="Card"/>
          <p:cNvSpPr/>
          <p:nvPr/>
        </p:nvSpPr>
        <p:spPr>
          <a:xfrm>
            <a:off x="6525566" y="282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83" name="Card"/>
          <p:cNvSpPr/>
          <p:nvPr/>
        </p:nvSpPr>
        <p:spPr>
          <a:xfrm>
            <a:off x="6745566" y="30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84" name="Text"/>
          <p:cNvSpPr txBox="1"/>
          <p:nvPr/>
        </p:nvSpPr>
        <p:spPr>
          <a:xfrm>
            <a:off x="6745566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2</a:t>
            </a:r>
          </a:p>
        </p:txBody>
      </p:sp>
      <p:sp>
        <p:nvSpPr>
          <p:cNvPr id="1185" name="Text"/>
          <p:cNvSpPr txBox="1"/>
          <p:nvPr/>
        </p:nvSpPr>
        <p:spPr>
          <a:xfrm>
            <a:off x="6745566" y="36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Flashea el resto</a:t>
            </a:r>
          </a:p>
        </p:txBody>
      </p:sp>
      <p:sp>
        <p:nvSpPr>
          <p:cNvPr id="1186" name="Text"/>
          <p:cNvSpPr txBox="1"/>
          <p:nvPr/>
        </p:nvSpPr>
        <p:spPr>
          <a:xfrm>
            <a:off x="6745566" y="408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En las demás placas, IS_MASTER = 0. Mismo .ino, mismo MESH_CHANNEL.</a:t>
            </a:r>
          </a:p>
        </p:txBody>
      </p:sp>
      <p:sp>
        <p:nvSpPr>
          <p:cNvPr id="1187" name="Card"/>
          <p:cNvSpPr/>
          <p:nvPr/>
        </p:nvSpPr>
        <p:spPr>
          <a:xfrm>
            <a:off x="12022433" y="282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88" name="Card"/>
          <p:cNvSpPr/>
          <p:nvPr/>
        </p:nvSpPr>
        <p:spPr>
          <a:xfrm>
            <a:off x="12242433" y="304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89" name="Text"/>
          <p:cNvSpPr txBox="1"/>
          <p:nvPr/>
        </p:nvSpPr>
        <p:spPr>
          <a:xfrm>
            <a:off x="12242433" y="304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3</a:t>
            </a:r>
          </a:p>
        </p:txBody>
      </p:sp>
      <p:sp>
        <p:nvSpPr>
          <p:cNvPr id="1190" name="Text"/>
          <p:cNvSpPr txBox="1"/>
          <p:nvPr/>
        </p:nvSpPr>
        <p:spPr>
          <a:xfrm>
            <a:off x="12242433" y="365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Enciende todos los nodos</a:t>
            </a:r>
          </a:p>
        </p:txBody>
      </p:sp>
      <p:sp>
        <p:nvSpPr>
          <p:cNvPr id="1191" name="Text"/>
          <p:cNvSpPr txBox="1"/>
          <p:nvPr/>
        </p:nvSpPr>
        <p:spPr>
          <a:xfrm>
            <a:off x="12242433" y="408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Verás el splash “MeshNow” y luego el menú principal en la OLED.</a:t>
            </a:r>
          </a:p>
        </p:txBody>
      </p:sp>
      <p:sp>
        <p:nvSpPr>
          <p:cNvPr id="1192" name="Card"/>
          <p:cNvSpPr/>
          <p:nvPr/>
        </p:nvSpPr>
        <p:spPr>
          <a:xfrm>
            <a:off x="1028700" y="579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93" name="Card"/>
          <p:cNvSpPr/>
          <p:nvPr/>
        </p:nvSpPr>
        <p:spPr>
          <a:xfrm>
            <a:off x="1248700" y="601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94" name="Text"/>
          <p:cNvSpPr txBox="1"/>
          <p:nvPr/>
        </p:nvSpPr>
        <p:spPr>
          <a:xfrm>
            <a:off x="1248700" y="601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4</a:t>
            </a:r>
          </a:p>
        </p:txBody>
      </p:sp>
      <p:sp>
        <p:nvSpPr>
          <p:cNvPr id="1195" name="Text"/>
          <p:cNvSpPr txBox="1"/>
          <p:nvPr/>
        </p:nvSpPr>
        <p:spPr>
          <a:xfrm>
            <a:off x="1248700" y="662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Explora la malla</a:t>
            </a:r>
          </a:p>
        </p:txBody>
      </p:sp>
      <p:sp>
        <p:nvSpPr>
          <p:cNvPr id="1196" name="Text"/>
          <p:cNvSpPr txBox="1"/>
          <p:nvPr/>
        </p:nvSpPr>
        <p:spPr>
          <a:xfrm>
            <a:off x="1248700" y="705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Métricas (tx/rx/relay), Red/Vecinos (RSSI y saltos), Ping activos, Scanner.</a:t>
            </a:r>
          </a:p>
        </p:txBody>
      </p:sp>
      <p:sp>
        <p:nvSpPr>
          <p:cNvPr id="1197" name="Card"/>
          <p:cNvSpPr/>
          <p:nvPr/>
        </p:nvSpPr>
        <p:spPr>
          <a:xfrm>
            <a:off x="6525566" y="579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198" name="Card"/>
          <p:cNvSpPr/>
          <p:nvPr/>
        </p:nvSpPr>
        <p:spPr>
          <a:xfrm>
            <a:off x="6745566" y="601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199" name="Text"/>
          <p:cNvSpPr txBox="1"/>
          <p:nvPr/>
        </p:nvSpPr>
        <p:spPr>
          <a:xfrm>
            <a:off x="6745566" y="601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5</a:t>
            </a:r>
          </a:p>
        </p:txBody>
      </p:sp>
      <p:sp>
        <p:nvSpPr>
          <p:cNvPr id="1200" name="Text"/>
          <p:cNvSpPr txBox="1"/>
          <p:nvPr/>
        </p:nvSpPr>
        <p:spPr>
          <a:xfrm>
            <a:off x="6745566" y="662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Manda un mensaje</a:t>
            </a:r>
          </a:p>
        </p:txBody>
      </p:sp>
      <p:sp>
        <p:nvSpPr>
          <p:cNvPr id="1201" name="Text"/>
          <p:cNvSpPr txBox="1"/>
          <p:nvPr/>
        </p:nvSpPr>
        <p:spPr>
          <a:xfrm>
            <a:off x="6745566" y="705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Elige destino (Todos o un nodo) y un mensaje prehecho del catálogo.</a:t>
            </a:r>
          </a:p>
        </p:txBody>
      </p:sp>
      <p:sp>
        <p:nvSpPr>
          <p:cNvPr id="1202" name="Card"/>
          <p:cNvSpPr/>
          <p:nvPr/>
        </p:nvSpPr>
        <p:spPr>
          <a:xfrm>
            <a:off x="12022433" y="5790000"/>
            <a:ext cx="5236866" cy="2710000"/>
          </a:xfrm>
          <a:prstGeom prst="roundRect">
            <a:avLst>
              <a:gd name="adj" fmla="val 6000"/>
            </a:avLst>
          </a:prstGeom>
          <a:solidFill>
            <a:srgbClr val="141B30"/>
          </a:solidFill>
        </p:spPr>
        <p:txBody>
          <a:bodyPr/>
          <a:lstStyle/>
          <a:p>
            <a:endParaRPr lang="es-419"/>
          </a:p>
        </p:txBody>
      </p:sp>
      <p:sp>
        <p:nvSpPr>
          <p:cNvPr id="1203" name="Card"/>
          <p:cNvSpPr/>
          <p:nvPr/>
        </p:nvSpPr>
        <p:spPr>
          <a:xfrm>
            <a:off x="12242433" y="6010000"/>
            <a:ext cx="480000" cy="480000"/>
          </a:xfrm>
          <a:prstGeom prst="roundRect">
            <a:avLst>
              <a:gd name="adj" fmla="val 15000"/>
            </a:avLst>
          </a:prstGeom>
          <a:solidFill>
            <a:srgbClr val="A173FD"/>
          </a:solidFill>
        </p:spPr>
        <p:txBody>
          <a:bodyPr/>
          <a:lstStyle/>
          <a:p>
            <a:endParaRPr lang="es-419"/>
          </a:p>
        </p:txBody>
      </p:sp>
      <p:sp>
        <p:nvSpPr>
          <p:cNvPr id="1204" name="Text"/>
          <p:cNvSpPr txBox="1"/>
          <p:nvPr/>
        </p:nvSpPr>
        <p:spPr>
          <a:xfrm>
            <a:off x="12242433" y="6010000"/>
            <a:ext cx="480000" cy="48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s-419" sz="280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6</a:t>
            </a:r>
          </a:p>
        </p:txBody>
      </p:sp>
      <p:sp>
        <p:nvSpPr>
          <p:cNvPr id="1205" name="Text"/>
          <p:cNvSpPr txBox="1"/>
          <p:nvPr/>
        </p:nvSpPr>
        <p:spPr>
          <a:xfrm>
            <a:off x="12242433" y="6620000"/>
            <a:ext cx="4796866" cy="420000"/>
          </a:xfrm>
          <a:prstGeom prst="rect">
            <a:avLst/>
          </a:prstGeom>
        </p:spPr>
        <p:txBody>
          <a:bodyPr lIns="0" tIns="0" rIns="0" bIns="0" anchor="t"/>
          <a:lstStyle/>
          <a:p>
            <a:r>
              <a:rPr lang="es-419" sz="1350" b="1" dirty="0">
                <a:solidFill>
                  <a:srgbClr val="FFFFFF"/>
                </a:solidFill>
                <a:latin typeface="TT Norms Bold"/>
                <a:ea typeface="TT Norms Bold"/>
                <a:cs typeface="TT Norms Bold"/>
                <a:sym typeface="TT Norms Bold"/>
              </a:rPr>
              <a:t>Modo PC (maestro)</a:t>
            </a:r>
          </a:p>
        </p:txBody>
      </p:sp>
      <p:sp>
        <p:nvSpPr>
          <p:cNvPr id="1206" name="Text"/>
          <p:cNvSpPr txBox="1"/>
          <p:nvPr/>
        </p:nvSpPr>
        <p:spPr>
          <a:xfrm>
            <a:off x="12242433" y="7050000"/>
            <a:ext cx="4796866" cy="1450000"/>
          </a:xfrm>
          <a:prstGeom prst="rect">
            <a:avLst/>
          </a:prstGeom>
        </p:spPr>
        <p:txBody>
          <a:bodyPr lIns="0" tIns="0" rIns="0" bIns="0" anchor="t"/>
          <a:lstStyle/>
          <a:p>
            <a:pPr>
              <a:lnSpc>
                <a:spcPct val="118000"/>
              </a:lnSpc>
            </a:pPr>
            <a:r>
              <a:rPr lang="es-419" sz="2000" dirty="0">
                <a:solidFill>
                  <a:srgbClr val="C9BFE8"/>
                </a:solidFill>
                <a:latin typeface="TT Norms"/>
                <a:ea typeface="TT Norms"/>
                <a:cs typeface="TT Norms"/>
                <a:sym typeface="TT Norms"/>
              </a:rPr>
              <a:t>Terminal por serial: status, nodes, send, sendto, ping, rgb, buzzer...</a:t>
            </a:r>
          </a:p>
        </p:txBody>
      </p:sp>
      <p:sp>
        <p:nvSpPr>
          <p:cNvPr id="18" name="Freeform 18"/>
          <p:cNvSpPr/>
          <p:nvPr/>
        </p:nvSpPr>
        <p:spPr>
          <a:xfrm>
            <a:off x="-271776" y="8749435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4" name="TextBox 4"/>
          <p:cNvSpPr txBox="1"/>
          <p:nvPr/>
        </p:nvSpPr>
        <p:spPr>
          <a:xfrm>
            <a:off x="5120728" y="3483553"/>
            <a:ext cx="8046544" cy="4152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88"/>
              </a:lnSpc>
            </a:pPr>
            <a:r>
              <a:rPr lang="en-US" sz="90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¡GRACIAS!</a:t>
            </a:r>
          </a:p>
        </p:txBody>
      </p:sp>
      <p:sp>
        <p:nvSpPr>
          <p:cNvPr id="10" name="Freeform 10"/>
          <p:cNvSpPr/>
          <p:nvPr/>
        </p:nvSpPr>
        <p:spPr>
          <a:xfrm>
            <a:off x="-658549" y="8416183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0" y="0"/>
                </a:lnTo>
                <a:lnTo>
                  <a:pt x="5654060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1" name="Freeform 11"/>
          <p:cNvSpPr/>
          <p:nvPr/>
        </p:nvSpPr>
        <p:spPr>
          <a:xfrm>
            <a:off x="13167272" y="8416183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0" y="0"/>
                </a:lnTo>
                <a:lnTo>
                  <a:pt x="5654060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5" name="Kicker">
            <a:extLst>
              <a:ext uri="{FF2B5EF4-FFF2-40B4-BE49-F238E27FC236}">
                <a16:creationId xmlns:a16="http://schemas.microsoft.com/office/drawing/2014/main" id="{CE16AAF9-7B79-5727-0F0C-DC31B5C95DC3}"/>
              </a:ext>
            </a:extLst>
          </p:cNvPr>
          <p:cNvSpPr txBox="1"/>
          <p:nvPr/>
        </p:nvSpPr>
        <p:spPr>
          <a:xfrm>
            <a:off x="5410200" y="5559858"/>
            <a:ext cx="9000000" cy="7217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ES" sz="44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¿Preguntas o comentarios?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C7E0B-F9ED-4E32-4858-E67163F63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59BEEA7-35E0-54D6-4796-BD34E5523EB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6FC78E15-2751-C174-D50C-68AA0EC0D239}"/>
              </a:ext>
            </a:extLst>
          </p:cNvPr>
          <p:cNvSpPr/>
          <p:nvPr/>
        </p:nvSpPr>
        <p:spPr>
          <a:xfrm>
            <a:off x="-271776" y="8749435"/>
            <a:ext cx="5654060" cy="1017731"/>
          </a:xfrm>
          <a:custGeom>
            <a:avLst/>
            <a:gdLst/>
            <a:ahLst/>
            <a:cxnLst/>
            <a:rect l="l" t="t" r="r" b="b"/>
            <a:pathLst>
              <a:path w="5654060" h="1017731">
                <a:moveTo>
                  <a:pt x="0" y="0"/>
                </a:moveTo>
                <a:lnTo>
                  <a:pt x="5654061" y="0"/>
                </a:lnTo>
                <a:lnTo>
                  <a:pt x="5654061" y="1017730"/>
                </a:lnTo>
                <a:lnTo>
                  <a:pt x="0" y="101773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419"/>
          </a:p>
        </p:txBody>
      </p:sp>
      <p:sp>
        <p:nvSpPr>
          <p:cNvPr id="9" name="Kicker">
            <a:extLst>
              <a:ext uri="{FF2B5EF4-FFF2-40B4-BE49-F238E27FC236}">
                <a16:creationId xmlns:a16="http://schemas.microsoft.com/office/drawing/2014/main" id="{2A0BC737-0DB6-2B1C-9FE5-69190D73618D}"/>
              </a:ext>
            </a:extLst>
          </p:cNvPr>
          <p:cNvSpPr txBox="1"/>
          <p:nvPr/>
        </p:nvSpPr>
        <p:spPr>
          <a:xfrm>
            <a:off x="1028700" y="1795250"/>
            <a:ext cx="9000000" cy="6455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s-419" sz="4800" b="1" spc="150" dirty="0">
                <a:solidFill>
                  <a:srgbClr val="A173FD"/>
                </a:solidFill>
                <a:latin typeface="TT Norms Bold"/>
                <a:ea typeface="TT Norms Bold"/>
                <a:cs typeface="TT Norms Bold"/>
                <a:sym typeface="TT Norms Bold"/>
              </a:rPr>
              <a:t>Contacto</a:t>
            </a:r>
          </a:p>
          <a:p>
            <a:endParaRPr lang="es-419" sz="4800" b="1" spc="150" dirty="0">
              <a:solidFill>
                <a:srgbClr val="A173FD"/>
              </a:solidFill>
              <a:latin typeface="TT Norms Bold"/>
              <a:ea typeface="TT Norms Bold"/>
              <a:cs typeface="TT Norms Bold"/>
              <a:sym typeface="TT Norms Bold"/>
            </a:endParaRPr>
          </a:p>
        </p:txBody>
      </p:sp>
    </p:spTree>
    <p:extLst>
      <p:ext uri="{BB962C8B-B14F-4D97-AF65-F5344CB8AC3E}">
        <p14:creationId xmlns:p14="http://schemas.microsoft.com/office/powerpoint/2010/main" val="2669486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1066</Words>
  <Application>Microsoft Office PowerPoint</Application>
  <PresentationFormat>Personalizado</PresentationFormat>
  <Paragraphs>156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Poppins</vt:lpstr>
      <vt:lpstr>Arial</vt:lpstr>
      <vt:lpstr>Poppins Bold</vt:lpstr>
      <vt:lpstr>Calibri</vt:lpstr>
      <vt:lpstr>TT Norms</vt:lpstr>
      <vt:lpstr>TT Norms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White Moder Technology Presentation</dc:title>
  <cp:lastModifiedBy>Pablo Jose L?pez Mazariegos</cp:lastModifiedBy>
  <cp:revision>4</cp:revision>
  <dcterms:created xsi:type="dcterms:W3CDTF">2006-08-16T00:00:00Z</dcterms:created>
  <dcterms:modified xsi:type="dcterms:W3CDTF">2026-08-25T05:59:48Z</dcterms:modified>
  <dc:identifier>DAHTHwhQTRc</dc:identifier>
</cp:coreProperties>
</file>