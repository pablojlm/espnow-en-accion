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5" r:id="rId3"/>
    <p:sldId id="257" r:id="rId4"/>
    <p:sldId id="274" r:id="rId28"/>
    <p:sldId id="258" r:id="rId5"/>
    <p:sldId id="266" r:id="rId20"/>
    <p:sldId id="259" r:id="rId6"/>
    <p:sldId id="260" r:id="rId7"/>
    <p:sldId id="267" r:id="rId21"/>
    <p:sldId id="268" r:id="rId22"/>
    <p:sldId id="261" r:id="rId8"/>
    <p:sldId id="269" r:id="rId23"/>
    <p:sldId id="270" r:id="rId24"/>
    <p:sldId id="272" r:id="rId26"/>
    <p:sldId id="273" r:id="rId27"/>
    <p:sldId id="271" r:id="rId25"/>
    <p:sldId id="264" r:id="rId11"/>
  </p:sldIdLst>
  <p:sldSz cx="18288000" cy="10287000"/>
  <p:notesSz cx="6858000" cy="9144000"/>
  <p:embeddedFontLst>
    <p:embeddedFont>
      <p:font typeface="Poppins" panose="00000500000000000000" pitchFamily="2" charset="0"/>
      <p:regular r:id="rId12"/>
    </p:embeddedFont>
    <p:embeddedFont>
      <p:font typeface="Poppins Bold" panose="00000800000000000000" charset="0"/>
      <p:regular r:id="rId13"/>
    </p:embeddedFont>
    <p:embeddedFont>
      <p:font typeface="TT Norms" panose="020B0604020202020204" charset="0"/>
      <p:regular r:id="rId14"/>
    </p:embeddedFont>
    <p:embeddedFont>
      <p:font typeface="TT Norm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font" Target="fonts/font3.fntdata"/>  <Relationship Id="rId20" Type="http://schemas.openxmlformats.org/officeDocument/2006/relationships/slide" Target="slides/slide11.xml"/>
  <Relationship Id="rId21" Type="http://schemas.openxmlformats.org/officeDocument/2006/relationships/slide" Target="slides/slide12.xml"/>
  <Relationship Id="rId22" Type="http://schemas.openxmlformats.org/officeDocument/2006/relationships/slide" Target="slides/slide13.xml"/>
  <Relationship Id="rId23" Type="http://schemas.openxmlformats.org/officeDocument/2006/relationships/slide" Target="slides/slide14.xml"/>
  <Relationship Id="rId24" Type="http://schemas.openxmlformats.org/officeDocument/2006/relationships/slide" Target="slides/slide15.xml"/>
  <Relationship Id="rId25" Type="http://schemas.openxmlformats.org/officeDocument/2006/relationships/slide" Target="slides/slide16.xml"/>
  <Relationship Id="rId26" Type="http://schemas.openxmlformats.org/officeDocument/2006/relationships/slide" Target="slides/slide17.xml"/>
  <Relationship Id="rId27" Type="http://schemas.openxmlformats.org/officeDocument/2006/relationships/slide" Target="slides/slide18.xml"/>
  <Relationship Id="rId28" Type="http://schemas.openxmlformats.org/officeDocument/2006/relationships/slide" Target="slides/slide19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jpe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jpe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jpe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jpe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jpe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jpe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1028700" y="3816693"/>
            <a:ext cx="16230600" cy="6470307"/>
          </a:xfrm>
          <a:custGeom>
            <a:avLst/>
            <a:gdLst/>
            <a:ahLst/>
            <a:cxnLst/>
            <a:rect l="l" t="t" r="r" b="b"/>
            <a:pathLst>
              <a:path w="16230600" h="6470307">
                <a:moveTo>
                  <a:pt x="0" y="0"/>
                </a:moveTo>
                <a:lnTo>
                  <a:pt x="16230600" y="0"/>
                </a:lnTo>
                <a:lnTo>
                  <a:pt x="16230600" y="6470307"/>
                </a:lnTo>
                <a:lnTo>
                  <a:pt x="0" y="6470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TextBox 5"/>
          <p:cNvSpPr txBox="1"/>
          <p:nvPr/>
        </p:nvSpPr>
        <p:spPr>
          <a:xfrm>
            <a:off x="3866972" y="3086100"/>
            <a:ext cx="10554056" cy="187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3"/>
              </a:lnSpc>
            </a:pPr>
            <a:r>
              <a:rPr lang="en-US" sz="1098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ESP NOW</a:t>
            </a:r>
          </a:p>
        </p:txBody>
      </p:sp>
      <p:sp>
        <p:nvSpPr>
          <p:cNvPr id="6" name="Freeform 6"/>
          <p:cNvSpPr/>
          <p:nvPr/>
        </p:nvSpPr>
        <p:spPr>
          <a:xfrm>
            <a:off x="12266345" y="7941564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TextBox 7"/>
          <p:cNvSpPr txBox="1"/>
          <p:nvPr/>
        </p:nvSpPr>
        <p:spPr>
          <a:xfrm>
            <a:off x="2789223" y="4991100"/>
            <a:ext cx="12709555" cy="100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892" spc="-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n-US" sz="5892" spc="-1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ESP32</a:t>
            </a:r>
          </a:p>
        </p:txBody>
      </p:sp>
      <p:sp>
        <p:nvSpPr>
          <p:cNvPr id="13" name="Freeform 13"/>
          <p:cNvSpPr/>
          <p:nvPr/>
        </p:nvSpPr>
        <p:spPr>
          <a:xfrm>
            <a:off x="-2313472" y="2499957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B3F2-4D7B-75BC-F8A3-2F5EB9E79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42E0FD-6463-5D50-D6FE-6D3A4ADEA2F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20FD72C-B96F-2641-A244-EC9A5143D507}"/>
              </a:ext>
            </a:extLst>
          </p:cNvPr>
          <p:cNvSpPr/>
          <p:nvPr/>
        </p:nvSpPr>
        <p:spPr>
          <a:xfrm>
            <a:off x="10114506" y="0"/>
            <a:ext cx="8151870" cy="10287000"/>
          </a:xfrm>
          <a:custGeom>
            <a:avLst/>
            <a:gdLst/>
            <a:ahLst/>
            <a:cxnLst/>
            <a:rect l="l" t="t" r="r" b="b"/>
            <a:pathLst>
              <a:path w="8151870" h="10287000">
                <a:moveTo>
                  <a:pt x="0" y="0"/>
                </a:moveTo>
                <a:lnTo>
                  <a:pt x="8151869" y="0"/>
                </a:lnTo>
                <a:lnTo>
                  <a:pt x="81518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001" r="-6040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FE5A6DB-1D3B-4D2E-3FCC-204FD282F2A8}"/>
              </a:ext>
            </a:extLst>
          </p:cNvPr>
          <p:cNvSpPr txBox="1"/>
          <p:nvPr/>
        </p:nvSpPr>
        <p:spPr>
          <a:xfrm>
            <a:off x="1028700" y="2581872"/>
            <a:ext cx="7513966" cy="1889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Pablo</a:t>
            </a:r>
          </a:p>
          <a:p>
            <a:pPr algn="l">
              <a:lnSpc>
                <a:spcPts val="734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López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B9E356D-542C-9D73-7A55-28FA971054BC}"/>
              </a:ext>
            </a:extLst>
          </p:cNvPr>
          <p:cNvSpPr txBox="1"/>
          <p:nvPr/>
        </p:nvSpPr>
        <p:spPr>
          <a:xfrm>
            <a:off x="1028700" y="4758471"/>
            <a:ext cx="8435777" cy="678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1" indent="-342900" algn="just">
              <a:lnSpc>
                <a:spcPts val="265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419" sz="1896" u="none" strike="noStrike" noProof="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Ingeniero en Mecatrónica</a:t>
            </a:r>
          </a:p>
          <a:p>
            <a:pPr marL="0" lvl="1" algn="just">
              <a:lnSpc>
                <a:spcPts val="2655"/>
              </a:lnSpc>
              <a:spcBef>
                <a:spcPct val="0"/>
              </a:spcBef>
            </a:pPr>
            <a:endParaRPr lang="es-419" sz="1896" u="none" strike="noStrike" noProof="0" dirty="0">
              <a:solidFill>
                <a:srgbClr val="FFFFFF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9C93A62-6E7D-BB17-0C2F-BE9353DA50E6}"/>
              </a:ext>
            </a:extLst>
          </p:cNvPr>
          <p:cNvSpPr/>
          <p:nvPr/>
        </p:nvSpPr>
        <p:spPr>
          <a:xfrm>
            <a:off x="-868377" y="9149333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0" y="0"/>
                </a:lnTo>
                <a:lnTo>
                  <a:pt x="5654060" y="1017731"/>
                </a:lnTo>
                <a:lnTo>
                  <a:pt x="0" y="1017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7330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10114506" y="0"/>
            <a:ext cx="8151870" cy="10287000"/>
          </a:xfrm>
          <a:custGeom>
            <a:avLst/>
            <a:gdLst/>
            <a:ahLst/>
            <a:cxnLst/>
            <a:rect l="l" t="t" r="r" b="b"/>
            <a:pathLst>
              <a:path w="8151870" h="10287000">
                <a:moveTo>
                  <a:pt x="0" y="0"/>
                </a:moveTo>
                <a:lnTo>
                  <a:pt x="8151869" y="0"/>
                </a:lnTo>
                <a:lnTo>
                  <a:pt x="81518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001" r="-6040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TextBox 5"/>
          <p:cNvSpPr txBox="1"/>
          <p:nvPr/>
        </p:nvSpPr>
        <p:spPr>
          <a:xfrm>
            <a:off x="1028700" y="2581872"/>
            <a:ext cx="7513966" cy="1889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Daniel</a:t>
            </a:r>
          </a:p>
          <a:p>
            <a:pPr algn="l">
              <a:lnSpc>
                <a:spcPts val="734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Oliva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758471"/>
            <a:ext cx="8435777" cy="140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1" indent="-342900" algn="just">
              <a:lnSpc>
                <a:spcPts val="265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419" sz="28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Pensum cerrado en Ingeniería</a:t>
            </a:r>
            <a:r>
              <a:rPr lang="es-419" sz="2800" u="none" strike="noStrike" noProof="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Mecatrónica</a:t>
            </a:r>
          </a:p>
          <a:p>
            <a:pPr marL="342900" lvl="1" indent="-342900" algn="just">
              <a:lnSpc>
                <a:spcPts val="265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419" sz="2800" u="none" strike="noStrike" noProof="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Especializado en manufactura aditiva FDM</a:t>
            </a:r>
          </a:p>
          <a:p>
            <a:pPr marL="342900" lvl="1" indent="-342900" algn="just">
              <a:lnSpc>
                <a:spcPts val="265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419" sz="28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Administrados Grupo </a:t>
            </a:r>
            <a:r>
              <a:rPr lang="es-419" sz="2800" dirty="0" err="1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Meditex</a:t>
            </a:r>
            <a:endParaRPr lang="es-419" sz="2800" dirty="0">
              <a:solidFill>
                <a:srgbClr val="FFFFFF"/>
              </a:solidFill>
              <a:latin typeface="TT Norms"/>
              <a:ea typeface="TT Norms"/>
              <a:cs typeface="TT Norms"/>
              <a:sym typeface="TT Norms"/>
            </a:endParaRPr>
          </a:p>
          <a:p>
            <a:pPr marL="342900" lvl="1" indent="-342900" algn="just">
              <a:lnSpc>
                <a:spcPts val="265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419" sz="2800" u="none" strike="noStrike" noProof="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Diseño CAM y CAD </a:t>
            </a:r>
          </a:p>
        </p:txBody>
      </p:sp>
      <p:sp>
        <p:nvSpPr>
          <p:cNvPr id="13" name="Freeform 13"/>
          <p:cNvSpPr/>
          <p:nvPr/>
        </p:nvSpPr>
        <p:spPr>
          <a:xfrm>
            <a:off x="-868377" y="9149333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0" y="0"/>
                </a:lnTo>
                <a:lnTo>
                  <a:pt x="5654060" y="1017731"/>
                </a:lnTo>
                <a:lnTo>
                  <a:pt x="0" y="1017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35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CONCEPTO</a:t>
            </a:r>
          </a:p>
        </p:txBody>
      </p:sp>
      <p:sp>
        <p:nvSpPr>
          <p:cNvPr id="1036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4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es ESP-NOW?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033" name="Text"/>
          <p:cNvSpPr txBox="1"/>
          <p:nvPr/>
        </p:nvSpPr>
        <p:spPr>
          <a:xfrm>
            <a:off x="1028700" y="2820000"/>
            <a:ext cx="16230600" cy="90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4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Un protocolo inalámbrico de Espressif que conecta placas ESP </a:t>
            </a:r>
            <a:r>
              <a:rPr lang="es-419" sz="1450" b="1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directamente entre sí</a:t>
            </a:r>
            <a:r>
              <a:rPr lang="es-419" sz="14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, sin router, sin punto de acceso y sin necesidad de una red Wi-Fi tradicional.</a:t>
            </a:r>
          </a:p>
        </p:txBody>
      </p:sp>
      <p:sp>
        <p:nvSpPr>
          <p:cNvPr id="1034" name="Text"/>
          <p:cNvSpPr txBox="1"/>
          <p:nvPr/>
        </p:nvSpPr>
        <p:spPr>
          <a:xfrm>
            <a:off x="1028700" y="3870000"/>
            <a:ext cx="16230600" cy="4630000"/>
          </a:xfrm>
          <a:prstGeom prst="rect">
            <a:avLst/>
          </a:prstGeo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s-419" sz="13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Capa física:  </a:t>
            </a:r>
            <a:r>
              <a:rPr lang="es-419" sz="13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usa el radio 2.4 GHz de Wi-Fi, pero NO la pila IP/TCP — es mucho más liviano.</a:t>
            </a:r>
          </a:p>
          <a:p>
            <a:pPr marL="285750" indent="-285750">
              <a:spcBef>
                <a:spcPts val="1600"/>
              </a:spcBef>
              <a:buFont typeface="Arial"/>
              <a:buChar char="•"/>
            </a:pPr>
            <a:r>
              <a:rPr lang="es-419" sz="13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Conexión:  </a:t>
            </a:r>
            <a:r>
              <a:rPr lang="es-419" sz="13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dispositivo a dispositivo (peer-to-peer) o broadcast a todos los que escuchan.</a:t>
            </a:r>
          </a:p>
          <a:p>
            <a:pPr marL="285750" indent="-285750">
              <a:spcBef>
                <a:spcPts val="1600"/>
              </a:spcBef>
              <a:buFont typeface="Arial"/>
              <a:buChar char="•"/>
            </a:pPr>
            <a:r>
              <a:rPr lang="es-419" sz="13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Payload:  </a:t>
            </a:r>
            <a:r>
              <a:rPr lang="es-419" sz="13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paquetes cortos: hasta 250 bytes de datos por envío.</a:t>
            </a:r>
          </a:p>
          <a:p>
            <a:pPr marL="285750" indent="-285750">
              <a:spcBef>
                <a:spcPts val="1600"/>
              </a:spcBef>
              <a:buFont typeface="Arial"/>
              <a:buChar char="•"/>
            </a:pPr>
            <a:r>
              <a:rPr lang="es-419" sz="13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Latencia:  </a:t>
            </a:r>
            <a:r>
              <a:rPr lang="es-419" sz="13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muy baja — típicamente unos pocos milisegundos por salto.</a:t>
            </a:r>
          </a:p>
          <a:p>
            <a:pPr marL="285750" indent="-285750">
              <a:spcBef>
                <a:spcPts val="1600"/>
              </a:spcBef>
              <a:buFont typeface="Arial"/>
              <a:buChar char="•"/>
            </a:pPr>
            <a:r>
              <a:rPr lang="es-419" sz="13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Peers:  </a:t>
            </a:r>
            <a:r>
              <a:rPr lang="es-419" sz="13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hasta ~20 dispositivos cifrados registrados simultáneamente (según el chip/SDK).</a:t>
            </a:r>
          </a:p>
        </p:txBody>
      </p:sp>
      <p:sp>
        <p:nvSpPr>
          <p:cNvPr id="18" name="Freeform 18"/>
          <p:cNvSpPr/>
          <p:nvPr/>
        </p:nvSpPr>
        <p:spPr>
          <a:xfrm>
            <a:off x="-271776" y="8749435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79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CASOS DE USO — PARA DIVERTIRSE</a:t>
            </a:r>
          </a:p>
        </p:txBody>
      </p:sp>
      <p:sp>
        <p:nvSpPr>
          <p:cNvPr id="1080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3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ESP-NOW en proyectos personales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049" name="Card"/>
          <p:cNvSpPr/>
          <p:nvPr/>
        </p:nvSpPr>
        <p:spPr>
          <a:xfrm>
            <a:off x="1028700" y="282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50" name="Card"/>
          <p:cNvSpPr/>
          <p:nvPr/>
        </p:nvSpPr>
        <p:spPr>
          <a:xfrm>
            <a:off x="1248700" y="30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51" name="Text"/>
          <p:cNvSpPr txBox="1"/>
          <p:nvPr/>
        </p:nvSpPr>
        <p:spPr>
          <a:xfrm>
            <a:off x="1248700" y="30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1</a:t>
            </a:r>
          </a:p>
        </p:txBody>
      </p:sp>
      <p:sp>
        <p:nvSpPr>
          <p:cNvPr id="1052" name="Text"/>
          <p:cNvSpPr txBox="1"/>
          <p:nvPr/>
        </p:nvSpPr>
        <p:spPr>
          <a:xfrm>
            <a:off x="1248700" y="365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Control remoto DIY</a:t>
            </a:r>
          </a:p>
        </p:txBody>
      </p:sp>
      <p:sp>
        <p:nvSpPr>
          <p:cNvPr id="1053" name="Text"/>
          <p:cNvSpPr txBox="1"/>
          <p:nvPr/>
        </p:nvSpPr>
        <p:spPr>
          <a:xfrm>
            <a:off x="1248700" y="408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Mandos custom para carritos RC, drones o robots, sin depender de un receptor comercial.</a:t>
            </a:r>
          </a:p>
        </p:txBody>
      </p:sp>
      <p:sp>
        <p:nvSpPr>
          <p:cNvPr id="1054" name="Card"/>
          <p:cNvSpPr/>
          <p:nvPr/>
        </p:nvSpPr>
        <p:spPr>
          <a:xfrm>
            <a:off x="6525566" y="282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55" name="Card"/>
          <p:cNvSpPr/>
          <p:nvPr/>
        </p:nvSpPr>
        <p:spPr>
          <a:xfrm>
            <a:off x="6745566" y="30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56" name="Text"/>
          <p:cNvSpPr txBox="1"/>
          <p:nvPr/>
        </p:nvSpPr>
        <p:spPr>
          <a:xfrm>
            <a:off x="6745566" y="30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2</a:t>
            </a:r>
          </a:p>
        </p:txBody>
      </p:sp>
      <p:sp>
        <p:nvSpPr>
          <p:cNvPr id="1057" name="Text"/>
          <p:cNvSpPr txBox="1"/>
          <p:nvPr/>
        </p:nvSpPr>
        <p:spPr>
          <a:xfrm>
            <a:off x="6745566" y="365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Domótica sin Wi-Fi</a:t>
            </a:r>
          </a:p>
        </p:txBody>
      </p:sp>
      <p:sp>
        <p:nvSpPr>
          <p:cNvPr id="1058" name="Text"/>
          <p:cNvSpPr txBox="1"/>
          <p:nvPr/>
        </p:nvSpPr>
        <p:spPr>
          <a:xfrm>
            <a:off x="6745566" y="408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Sensores de puerta, temperatura o movimiento que avisan a un hub central al instante.</a:t>
            </a:r>
          </a:p>
        </p:txBody>
      </p:sp>
      <p:sp>
        <p:nvSpPr>
          <p:cNvPr id="1059" name="Card"/>
          <p:cNvSpPr/>
          <p:nvPr/>
        </p:nvSpPr>
        <p:spPr>
          <a:xfrm>
            <a:off x="12022433" y="282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60" name="Card"/>
          <p:cNvSpPr/>
          <p:nvPr/>
        </p:nvSpPr>
        <p:spPr>
          <a:xfrm>
            <a:off x="12242433" y="30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61" name="Text"/>
          <p:cNvSpPr txBox="1"/>
          <p:nvPr/>
        </p:nvSpPr>
        <p:spPr>
          <a:xfrm>
            <a:off x="12242433" y="30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3</a:t>
            </a:r>
          </a:p>
        </p:txBody>
      </p:sp>
      <p:sp>
        <p:nvSpPr>
          <p:cNvPr id="1062" name="Text"/>
          <p:cNvSpPr txBox="1"/>
          <p:nvPr/>
        </p:nvSpPr>
        <p:spPr>
          <a:xfrm>
            <a:off x="12242433" y="365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Arte interactivo</a:t>
            </a:r>
          </a:p>
        </p:txBody>
      </p:sp>
      <p:sp>
        <p:nvSpPr>
          <p:cNvPr id="1063" name="Text"/>
          <p:cNvSpPr txBox="1"/>
          <p:nvPr/>
        </p:nvSpPr>
        <p:spPr>
          <a:xfrm>
            <a:off x="12242433" y="408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Instalaciones de luces (NeoPixel) que reaccionan y se sincronizan entre varios nodos.</a:t>
            </a:r>
          </a:p>
        </p:txBody>
      </p:sp>
      <p:sp>
        <p:nvSpPr>
          <p:cNvPr id="1064" name="Card"/>
          <p:cNvSpPr/>
          <p:nvPr/>
        </p:nvSpPr>
        <p:spPr>
          <a:xfrm>
            <a:off x="1028700" y="579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65" name="Card"/>
          <p:cNvSpPr/>
          <p:nvPr/>
        </p:nvSpPr>
        <p:spPr>
          <a:xfrm>
            <a:off x="1248700" y="601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66" name="Text"/>
          <p:cNvSpPr txBox="1"/>
          <p:nvPr/>
        </p:nvSpPr>
        <p:spPr>
          <a:xfrm>
            <a:off x="1248700" y="601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4</a:t>
            </a:r>
          </a:p>
        </p:txBody>
      </p:sp>
      <p:sp>
        <p:nvSpPr>
          <p:cNvPr id="1067" name="Text"/>
          <p:cNvSpPr txBox="1"/>
          <p:nvPr/>
        </p:nvSpPr>
        <p:spPr>
          <a:xfrm>
            <a:off x="1248700" y="662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Mensajería tipo walkie-talkie</a:t>
            </a:r>
          </a:p>
        </p:txBody>
      </p:sp>
      <p:sp>
        <p:nvSpPr>
          <p:cNvPr id="1068" name="Text"/>
          <p:cNvSpPr txBox="1"/>
          <p:nvPr/>
        </p:nvSpPr>
        <p:spPr>
          <a:xfrm>
            <a:off x="1248700" y="705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Mandar texto o comandos cortos entre placas — como en nuestro proyecto MeshNow.</a:t>
            </a:r>
          </a:p>
        </p:txBody>
      </p:sp>
      <p:sp>
        <p:nvSpPr>
          <p:cNvPr id="1069" name="Card"/>
          <p:cNvSpPr/>
          <p:nvPr/>
        </p:nvSpPr>
        <p:spPr>
          <a:xfrm>
            <a:off x="6525566" y="579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70" name="Card"/>
          <p:cNvSpPr/>
          <p:nvPr/>
        </p:nvSpPr>
        <p:spPr>
          <a:xfrm>
            <a:off x="6745566" y="601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71" name="Text"/>
          <p:cNvSpPr txBox="1"/>
          <p:nvPr/>
        </p:nvSpPr>
        <p:spPr>
          <a:xfrm>
            <a:off x="6745566" y="601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5</a:t>
            </a:r>
          </a:p>
        </p:txBody>
      </p:sp>
      <p:sp>
        <p:nvSpPr>
          <p:cNvPr id="1072" name="Text"/>
          <p:cNvSpPr txBox="1"/>
          <p:nvPr/>
        </p:nvSpPr>
        <p:spPr>
          <a:xfrm>
            <a:off x="6745566" y="662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Redes de sensores portátiles</a:t>
            </a:r>
          </a:p>
        </p:txBody>
      </p:sp>
      <p:sp>
        <p:nvSpPr>
          <p:cNvPr id="1073" name="Text"/>
          <p:cNvSpPr txBox="1"/>
          <p:nvPr/>
        </p:nvSpPr>
        <p:spPr>
          <a:xfrm>
            <a:off x="6745566" y="705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Estaciones meteorológicas o de campo que no necesitan infraestructura Wi-Fi.</a:t>
            </a:r>
          </a:p>
        </p:txBody>
      </p:sp>
      <p:sp>
        <p:nvSpPr>
          <p:cNvPr id="1074" name="Card"/>
          <p:cNvSpPr/>
          <p:nvPr/>
        </p:nvSpPr>
        <p:spPr>
          <a:xfrm>
            <a:off x="12022433" y="579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75" name="Card"/>
          <p:cNvSpPr/>
          <p:nvPr/>
        </p:nvSpPr>
        <p:spPr>
          <a:xfrm>
            <a:off x="12242433" y="601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76" name="Text"/>
          <p:cNvSpPr txBox="1"/>
          <p:nvPr/>
        </p:nvSpPr>
        <p:spPr>
          <a:xfrm>
            <a:off x="12242433" y="601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6</a:t>
            </a:r>
          </a:p>
        </p:txBody>
      </p:sp>
      <p:sp>
        <p:nvSpPr>
          <p:cNvPr id="1077" name="Text"/>
          <p:cNvSpPr txBox="1"/>
          <p:nvPr/>
        </p:nvSpPr>
        <p:spPr>
          <a:xfrm>
            <a:off x="12242433" y="662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Juegos y props</a:t>
            </a:r>
          </a:p>
        </p:txBody>
      </p:sp>
      <p:sp>
        <p:nvSpPr>
          <p:cNvPr id="1078" name="Text"/>
          <p:cNvSpPr txBox="1"/>
          <p:nvPr/>
        </p:nvSpPr>
        <p:spPr>
          <a:xfrm>
            <a:off x="12242433" y="705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Botones, disfraces o props de escape room que se comunican entre sí en vivo.</a:t>
            </a:r>
          </a:p>
        </p:txBody>
      </p:sp>
      <p:sp>
        <p:nvSpPr>
          <p:cNvPr id="16" name="Freeform 16"/>
          <p:cNvSpPr/>
          <p:nvPr/>
        </p:nvSpPr>
        <p:spPr>
          <a:xfrm>
            <a:off x="-600790" y="8648468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0" y="0"/>
                </a:lnTo>
                <a:lnTo>
                  <a:pt x="5654060" y="1017731"/>
                </a:lnTo>
                <a:lnTo>
                  <a:pt x="0" y="1017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86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CASOS DE USO — CON CUIDADO</a:t>
            </a:r>
          </a:p>
        </p:txBody>
      </p:sp>
      <p:sp>
        <p:nvSpPr>
          <p:cNvPr id="1087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3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Aplicaciones industriales y críticas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081" name="Text"/>
          <p:cNvSpPr txBox="1"/>
          <p:nvPr/>
        </p:nvSpPr>
        <p:spPr>
          <a:xfrm>
            <a:off x="1028700" y="2820000"/>
            <a:ext cx="75000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700" b="1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Dónde ayuda</a:t>
            </a:r>
          </a:p>
        </p:txBody>
      </p:sp>
      <p:sp>
        <p:nvSpPr>
          <p:cNvPr id="1082" name="Text"/>
          <p:cNvSpPr txBox="1"/>
          <p:nvPr/>
        </p:nvSpPr>
        <p:spPr>
          <a:xfrm>
            <a:off x="1028700" y="3440000"/>
            <a:ext cx="7500000" cy="5060000"/>
          </a:xfrm>
          <a:prstGeom prst="rect">
            <a:avLst/>
          </a:prstGeo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s-419" sz="12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Prototipado rápido de redes de sensores IoT en planta</a:t>
            </a:r>
          </a:p>
          <a:p>
            <a:pPr marL="285750" indent="-285750">
              <a:spcBef>
                <a:spcPts val="1700"/>
              </a:spcBef>
              <a:buFont typeface="Arial"/>
              <a:buChar char="•"/>
            </a:pPr>
            <a:r>
              <a:rPr lang="es-419" sz="12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Monitoreo distribuido de bajo costo (temperatura, vibración, nivel)</a:t>
            </a:r>
          </a:p>
          <a:p>
            <a:pPr marL="285750" indent="-285750">
              <a:spcBef>
                <a:spcPts val="1700"/>
              </a:spcBef>
              <a:buFont typeface="Arial"/>
              <a:buChar char="•"/>
            </a:pPr>
            <a:r>
              <a:rPr lang="es-419" sz="12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Redes de sensores agrícolas en campo abierto</a:t>
            </a:r>
          </a:p>
          <a:p>
            <a:pPr marL="285750" indent="-285750">
              <a:spcBef>
                <a:spcPts val="1700"/>
              </a:spcBef>
              <a:buFont typeface="Arial"/>
              <a:buChar char="•"/>
            </a:pPr>
            <a:r>
              <a:rPr lang="es-419" sz="12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Telemetría de máquinas donde el Wi-Fi/cableado no llega</a:t>
            </a:r>
          </a:p>
        </p:txBody>
      </p:sp>
      <p:sp>
        <p:nvSpPr>
          <p:cNvPr id="1083" name="Card"/>
          <p:cNvSpPr/>
          <p:nvPr/>
        </p:nvSpPr>
        <p:spPr>
          <a:xfrm>
            <a:off x="8928700" y="2820000"/>
            <a:ext cx="8330600" cy="5680000"/>
          </a:xfrm>
          <a:prstGeom prst="roundRect">
            <a:avLst>
              <a:gd name="adj" fmla="val 6000"/>
            </a:avLst>
          </a:prstGeom>
          <a:solidFill>
            <a:srgbClr val="2A1414"/>
          </a:solidFill>
          <a:ln w="12700">
            <a:solidFill>
              <a:srgbClr val="F87171"/>
            </a:solidFill>
          </a:ln>
        </p:spPr>
        <p:txBody>
          <a:bodyPr/>
          <a:lstStyle/>
          <a:p>
            <a:endParaRPr lang="es-419"/>
          </a:p>
        </p:txBody>
      </p:sp>
      <p:sp>
        <p:nvSpPr>
          <p:cNvPr id="1084" name="Text"/>
          <p:cNvSpPr txBox="1"/>
          <p:nvPr/>
        </p:nvSpPr>
        <p:spPr>
          <a:xfrm>
            <a:off x="9278700" y="3120000"/>
            <a:ext cx="7630600" cy="50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5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⚠  No es para todo: límites a tener presentes</a:t>
            </a:r>
          </a:p>
        </p:txBody>
      </p:sp>
      <p:sp>
        <p:nvSpPr>
          <p:cNvPr id="1085" name="Text"/>
          <p:cNvSpPr txBox="1"/>
          <p:nvPr/>
        </p:nvSpPr>
        <p:spPr>
          <a:xfrm>
            <a:off x="9278700" y="3870000"/>
            <a:ext cx="7630600" cy="4330000"/>
          </a:xfrm>
          <a:prstGeom prst="rect">
            <a:avLst/>
          </a:prstGeo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s-419" sz="11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Sin QoS garantizado: un paquete se puede perder y nadie te avisa a nivel de protocolo.</a:t>
            </a:r>
          </a:p>
          <a:p>
            <a:pPr marL="285750" indent="-285750">
              <a:spcBef>
                <a:spcPts val="1600"/>
              </a:spcBef>
              <a:buFont typeface="Arial"/>
              <a:buChar char="•"/>
            </a:pPr>
            <a:r>
              <a:rPr lang="es-419" sz="11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Seguridad opcional y básica (CCMP) — no pensada para entornos hostiles sin capas extra.</a:t>
            </a:r>
          </a:p>
          <a:p>
            <a:pPr marL="285750" indent="-285750">
              <a:spcBef>
                <a:spcPts val="1600"/>
              </a:spcBef>
              <a:buFont typeface="Arial"/>
              <a:buChar char="•"/>
            </a:pPr>
            <a:r>
              <a:rPr lang="es-419" sz="11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No apto, por sí solo, para control de seguridad funcional (paros de emergencia, frenos, etc.).</a:t>
            </a:r>
          </a:p>
          <a:p>
            <a:pPr marL="285750" indent="-285750">
              <a:spcBef>
                <a:spcPts val="1600"/>
              </a:spcBef>
              <a:buFont typeface="Arial"/>
              <a:buChar char="•"/>
            </a:pPr>
            <a:r>
              <a:rPr lang="es-419" sz="115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Si necesitas confiabilidad alta: agrega ACK de aplicación, reintentos, watchdogs y redundancia — como hicimos en MeshNow con anti-duplicados y TTL.</a:t>
            </a:r>
          </a:p>
        </p:txBody>
      </p:sp>
      <p:sp>
        <p:nvSpPr>
          <p:cNvPr id="16" name="Freeform 16"/>
          <p:cNvSpPr/>
          <p:nvPr/>
        </p:nvSpPr>
        <p:spPr>
          <a:xfrm>
            <a:off x="-271776" y="8736118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1"/>
                </a:lnTo>
                <a:lnTo>
                  <a:pt x="0" y="1017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55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NUESTRO PROYECTO</a:t>
            </a:r>
          </a:p>
        </p:txBody>
      </p:sp>
      <p:sp>
        <p:nvSpPr>
          <p:cNvPr id="1156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3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MeshNow: malla ESP-NOW multi-salto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124" name="Text"/>
          <p:cNvSpPr txBox="1"/>
          <p:nvPr/>
        </p:nvSpPr>
        <p:spPr>
          <a:xfrm>
            <a:off x="1028700" y="2470000"/>
            <a:ext cx="16230600" cy="50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Un firmware único para todas las placas. Cada nodo reenvía los mensajes de sus vecinos, así que el mensaje de A puede llegar a D aunque no se escuchen directamente.</a:t>
            </a:r>
          </a:p>
        </p:txBody>
      </p:sp>
      <p:sp>
        <p:nvSpPr>
          <p:cNvPr id="1125" name="Card"/>
          <p:cNvSpPr/>
          <p:nvPr/>
        </p:nvSpPr>
        <p:spPr>
          <a:xfrm>
            <a:off x="1028700" y="3320000"/>
            <a:ext cx="5236866" cy="246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26" name="Card"/>
          <p:cNvSpPr/>
          <p:nvPr/>
        </p:nvSpPr>
        <p:spPr>
          <a:xfrm>
            <a:off x="1248700" y="35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27" name="Text"/>
          <p:cNvSpPr txBox="1"/>
          <p:nvPr/>
        </p:nvSpPr>
        <p:spPr>
          <a:xfrm>
            <a:off x="1248700" y="35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1</a:t>
            </a:r>
          </a:p>
        </p:txBody>
      </p:sp>
      <p:sp>
        <p:nvSpPr>
          <p:cNvPr id="1128" name="Text"/>
          <p:cNvSpPr txBox="1"/>
          <p:nvPr/>
        </p:nvSpPr>
        <p:spPr>
          <a:xfrm>
            <a:off x="1248700" y="415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Pantalla OLED (SH1106)</a:t>
            </a:r>
          </a:p>
        </p:txBody>
      </p:sp>
      <p:sp>
        <p:nvSpPr>
          <p:cNvPr id="1129" name="Text"/>
          <p:cNvSpPr txBox="1"/>
          <p:nvPr/>
        </p:nvSpPr>
        <p:spPr>
          <a:xfrm>
            <a:off x="1248700" y="4580000"/>
            <a:ext cx="4796866" cy="120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Menú con métricas, vecinos, ping y scanner RSSI en vivo</a:t>
            </a:r>
          </a:p>
        </p:txBody>
      </p:sp>
      <p:sp>
        <p:nvSpPr>
          <p:cNvPr id="1130" name="Card"/>
          <p:cNvSpPr/>
          <p:nvPr/>
        </p:nvSpPr>
        <p:spPr>
          <a:xfrm>
            <a:off x="6525566" y="3320000"/>
            <a:ext cx="5236866" cy="246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31" name="Card"/>
          <p:cNvSpPr/>
          <p:nvPr/>
        </p:nvSpPr>
        <p:spPr>
          <a:xfrm>
            <a:off x="6745566" y="35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32" name="Text"/>
          <p:cNvSpPr txBox="1"/>
          <p:nvPr/>
        </p:nvSpPr>
        <p:spPr>
          <a:xfrm>
            <a:off x="6745566" y="35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2</a:t>
            </a:r>
          </a:p>
        </p:txBody>
      </p:sp>
      <p:sp>
        <p:nvSpPr>
          <p:cNvPr id="1133" name="Text"/>
          <p:cNvSpPr txBox="1"/>
          <p:nvPr/>
        </p:nvSpPr>
        <p:spPr>
          <a:xfrm>
            <a:off x="6745566" y="415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Multi-salto con TTL</a:t>
            </a:r>
          </a:p>
        </p:txBody>
      </p:sp>
      <p:sp>
        <p:nvSpPr>
          <p:cNvPr id="1134" name="Text"/>
          <p:cNvSpPr txBox="1"/>
          <p:nvPr/>
        </p:nvSpPr>
        <p:spPr>
          <a:xfrm>
            <a:off x="6745566" y="4580000"/>
            <a:ext cx="4796866" cy="120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Flooding controlado — cada paquete tiene un límite de saltos</a:t>
            </a:r>
          </a:p>
        </p:txBody>
      </p:sp>
      <p:sp>
        <p:nvSpPr>
          <p:cNvPr id="1135" name="Card"/>
          <p:cNvSpPr/>
          <p:nvPr/>
        </p:nvSpPr>
        <p:spPr>
          <a:xfrm>
            <a:off x="12022433" y="3320000"/>
            <a:ext cx="5236866" cy="246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36" name="Card"/>
          <p:cNvSpPr/>
          <p:nvPr/>
        </p:nvSpPr>
        <p:spPr>
          <a:xfrm>
            <a:off x="12242433" y="35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37" name="Text"/>
          <p:cNvSpPr txBox="1"/>
          <p:nvPr/>
        </p:nvSpPr>
        <p:spPr>
          <a:xfrm>
            <a:off x="12242433" y="35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3</a:t>
            </a:r>
          </a:p>
        </p:txBody>
      </p:sp>
      <p:sp>
        <p:nvSpPr>
          <p:cNvPr id="1138" name="Text"/>
          <p:cNvSpPr txBox="1"/>
          <p:nvPr/>
        </p:nvSpPr>
        <p:spPr>
          <a:xfrm>
            <a:off x="12242433" y="415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1 maestro + N nodos</a:t>
            </a:r>
          </a:p>
        </p:txBody>
      </p:sp>
      <p:sp>
        <p:nvSpPr>
          <p:cNvPr id="1139" name="Text"/>
          <p:cNvSpPr txBox="1"/>
          <p:nvPr/>
        </p:nvSpPr>
        <p:spPr>
          <a:xfrm>
            <a:off x="12242433" y="4580000"/>
            <a:ext cx="4796866" cy="120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IS_MASTER en config.h decide el rol; mismo .ino para todos</a:t>
            </a:r>
          </a:p>
        </p:txBody>
      </p:sp>
      <p:sp>
        <p:nvSpPr>
          <p:cNvPr id="1140" name="Card"/>
          <p:cNvSpPr/>
          <p:nvPr/>
        </p:nvSpPr>
        <p:spPr>
          <a:xfrm>
            <a:off x="1028700" y="6040000"/>
            <a:ext cx="5236866" cy="246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41" name="Card"/>
          <p:cNvSpPr/>
          <p:nvPr/>
        </p:nvSpPr>
        <p:spPr>
          <a:xfrm>
            <a:off x="1248700" y="626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42" name="Text"/>
          <p:cNvSpPr txBox="1"/>
          <p:nvPr/>
        </p:nvSpPr>
        <p:spPr>
          <a:xfrm>
            <a:off x="1248700" y="626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4</a:t>
            </a:r>
          </a:p>
        </p:txBody>
      </p:sp>
      <p:sp>
        <p:nvSpPr>
          <p:cNvPr id="1143" name="Text"/>
          <p:cNvSpPr txBox="1"/>
          <p:nvPr/>
        </p:nvSpPr>
        <p:spPr>
          <a:xfrm>
            <a:off x="1248700" y="687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Modo PC / LabVIEW</a:t>
            </a:r>
          </a:p>
        </p:txBody>
      </p:sp>
      <p:sp>
        <p:nvSpPr>
          <p:cNvPr id="1144" name="Text"/>
          <p:cNvSpPr txBox="1"/>
          <p:nvPr/>
        </p:nvSpPr>
        <p:spPr>
          <a:xfrm>
            <a:off x="1248700" y="7300000"/>
            <a:ext cx="4796866" cy="120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El maestro expone una terminal por serial para controlar la malla</a:t>
            </a:r>
          </a:p>
        </p:txBody>
      </p:sp>
      <p:sp>
        <p:nvSpPr>
          <p:cNvPr id="1145" name="Card"/>
          <p:cNvSpPr/>
          <p:nvPr/>
        </p:nvSpPr>
        <p:spPr>
          <a:xfrm>
            <a:off x="6525566" y="6040000"/>
            <a:ext cx="5236866" cy="246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46" name="Card"/>
          <p:cNvSpPr/>
          <p:nvPr/>
        </p:nvSpPr>
        <p:spPr>
          <a:xfrm>
            <a:off x="6745566" y="626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47" name="Text"/>
          <p:cNvSpPr txBox="1"/>
          <p:nvPr/>
        </p:nvSpPr>
        <p:spPr>
          <a:xfrm>
            <a:off x="6745566" y="626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5</a:t>
            </a:r>
          </a:p>
        </p:txBody>
      </p:sp>
      <p:sp>
        <p:nvSpPr>
          <p:cNvPr id="1148" name="Text"/>
          <p:cNvSpPr txBox="1"/>
          <p:nvPr/>
        </p:nvSpPr>
        <p:spPr>
          <a:xfrm>
            <a:off x="6745566" y="687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Mensajería + “piano remoto”</a:t>
            </a:r>
          </a:p>
        </p:txBody>
      </p:sp>
      <p:sp>
        <p:nvSpPr>
          <p:cNvPr id="1149" name="Text"/>
          <p:cNvSpPr txBox="1"/>
          <p:nvPr/>
        </p:nvSpPr>
        <p:spPr>
          <a:xfrm>
            <a:off x="6745566" y="7300000"/>
            <a:ext cx="4796866" cy="120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Manda texto a todos o a un nodo, o hace sonar su buzzer</a:t>
            </a:r>
          </a:p>
        </p:txBody>
      </p:sp>
      <p:sp>
        <p:nvSpPr>
          <p:cNvPr id="1150" name="Card"/>
          <p:cNvSpPr/>
          <p:nvPr/>
        </p:nvSpPr>
        <p:spPr>
          <a:xfrm>
            <a:off x="12022433" y="6040000"/>
            <a:ext cx="5236866" cy="246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51" name="Card"/>
          <p:cNvSpPr/>
          <p:nvPr/>
        </p:nvSpPr>
        <p:spPr>
          <a:xfrm>
            <a:off x="12242433" y="626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52" name="Text"/>
          <p:cNvSpPr txBox="1"/>
          <p:nvPr/>
        </p:nvSpPr>
        <p:spPr>
          <a:xfrm>
            <a:off x="12242433" y="626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6</a:t>
            </a:r>
          </a:p>
        </p:txBody>
      </p:sp>
      <p:sp>
        <p:nvSpPr>
          <p:cNvPr id="1153" name="Text"/>
          <p:cNvSpPr txBox="1"/>
          <p:nvPr/>
        </p:nvSpPr>
        <p:spPr>
          <a:xfrm>
            <a:off x="12242433" y="687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Feedback físico</a:t>
            </a:r>
          </a:p>
        </p:txBody>
      </p:sp>
      <p:sp>
        <p:nvSpPr>
          <p:cNvPr id="1154" name="Text"/>
          <p:cNvSpPr txBox="1"/>
          <p:nvPr/>
        </p:nvSpPr>
        <p:spPr>
          <a:xfrm>
            <a:off x="12242433" y="7300000"/>
            <a:ext cx="4796866" cy="120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NeoPixels y buzzer confirman eventos (mensaje, botón, ping)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424041" y="9258300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0" y="0"/>
                </a:lnTo>
                <a:lnTo>
                  <a:pt x="5654060" y="1017731"/>
                </a:lnTo>
                <a:lnTo>
                  <a:pt x="0" y="1017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TextBox 4"/>
          <p:cNvSpPr txBox="1"/>
          <p:nvPr/>
        </p:nvSpPr>
        <p:spPr>
          <a:xfrm>
            <a:off x="5120728" y="3483553"/>
            <a:ext cx="8046544" cy="4152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88"/>
              </a:lnSpc>
            </a:pPr>
            <a:r>
              <a:rPr lang="en-US" sz="9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¡GRACIAS!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0" name="Freeform 10"/>
          <p:cNvSpPr/>
          <p:nvPr/>
        </p:nvSpPr>
        <p:spPr>
          <a:xfrm>
            <a:off x="-658549" y="8416183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0" y="0"/>
                </a:lnTo>
                <a:lnTo>
                  <a:pt x="5654060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Freeform 11"/>
          <p:cNvSpPr/>
          <p:nvPr/>
        </p:nvSpPr>
        <p:spPr>
          <a:xfrm>
            <a:off x="13167272" y="8416183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0" y="0"/>
                </a:lnTo>
                <a:lnTo>
                  <a:pt x="5654060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47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BALANCE</a:t>
            </a:r>
          </a:p>
        </p:txBody>
      </p:sp>
      <p:sp>
        <p:nvSpPr>
          <p:cNvPr id="1048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4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Pros y contras de ESP-NOW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037" name="Card"/>
          <p:cNvSpPr/>
          <p:nvPr/>
        </p:nvSpPr>
        <p:spPr>
          <a:xfrm>
            <a:off x="1028700" y="2820000"/>
            <a:ext cx="7915300" cy="5680000"/>
          </a:xfrm>
          <a:prstGeom prst="roundRect">
            <a:avLst>
              <a:gd name="adj" fmla="val 6000"/>
            </a:avLst>
          </a:prstGeom>
          <a:solidFill>
            <a:srgbClr val="0F2A1C"/>
          </a:solidFill>
        </p:spPr>
        <p:txBody>
          <a:bodyPr/>
          <a:lstStyle/>
          <a:p>
            <a:endParaRPr lang="es-419"/>
          </a:p>
        </p:txBody>
      </p:sp>
      <p:sp>
        <p:nvSpPr>
          <p:cNvPr id="1038" name="Card"/>
          <p:cNvSpPr/>
          <p:nvPr/>
        </p:nvSpPr>
        <p:spPr>
          <a:xfrm>
            <a:off x="1288700" y="3080000"/>
            <a:ext cx="520000" cy="5200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  <p:txBody>
          <a:bodyPr/>
          <a:lstStyle/>
          <a:p>
            <a:endParaRPr lang="es-419"/>
          </a:p>
        </p:txBody>
      </p:sp>
      <p:sp>
        <p:nvSpPr>
          <p:cNvPr id="1039" name="Text"/>
          <p:cNvSpPr txBox="1"/>
          <p:nvPr/>
        </p:nvSpPr>
        <p:spPr>
          <a:xfrm>
            <a:off x="1288700" y="3080000"/>
            <a:ext cx="520000" cy="52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20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+</a:t>
            </a:r>
          </a:p>
        </p:txBody>
      </p:sp>
      <p:sp>
        <p:nvSpPr>
          <p:cNvPr id="1040" name="Text"/>
          <p:cNvSpPr txBox="1"/>
          <p:nvPr/>
        </p:nvSpPr>
        <p:spPr>
          <a:xfrm>
            <a:off x="1928700" y="3120000"/>
            <a:ext cx="6815300" cy="50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9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Pros</a:t>
            </a:r>
          </a:p>
        </p:txBody>
      </p:sp>
      <p:sp>
        <p:nvSpPr>
          <p:cNvPr id="1041" name="Text"/>
          <p:cNvSpPr txBox="1"/>
          <p:nvPr/>
        </p:nvSpPr>
        <p:spPr>
          <a:xfrm>
            <a:off x="1328700" y="3870000"/>
            <a:ext cx="7315300" cy="4380000"/>
          </a:xfrm>
          <a:prstGeom prst="rect">
            <a:avLst/>
          </a:prstGeo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Sin router ni contraseña: los nodos se hablan directo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Latencia mínima — ideal para control en tiempo real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Bajo consumo: perfecto para baterías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API simple: esp_now_send() / esp_now_register_recv_cb()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Broadcast nativo a todos los nodos en el canal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Puede convivir con una conexión Wi-Fi normal (STA)</a:t>
            </a:r>
          </a:p>
        </p:txBody>
      </p:sp>
      <p:sp>
        <p:nvSpPr>
          <p:cNvPr id="1042" name="Card"/>
          <p:cNvSpPr/>
          <p:nvPr/>
        </p:nvSpPr>
        <p:spPr>
          <a:xfrm>
            <a:off x="9344000" y="2820000"/>
            <a:ext cx="7915300" cy="5680000"/>
          </a:xfrm>
          <a:prstGeom prst="roundRect">
            <a:avLst>
              <a:gd name="adj" fmla="val 6000"/>
            </a:avLst>
          </a:prstGeom>
          <a:solidFill>
            <a:srgbClr val="2A1414"/>
          </a:solidFill>
        </p:spPr>
        <p:txBody>
          <a:bodyPr/>
          <a:lstStyle/>
          <a:p>
            <a:endParaRPr lang="es-419"/>
          </a:p>
        </p:txBody>
      </p:sp>
      <p:sp>
        <p:nvSpPr>
          <p:cNvPr id="1043" name="Card"/>
          <p:cNvSpPr/>
          <p:nvPr/>
        </p:nvSpPr>
        <p:spPr>
          <a:xfrm>
            <a:off x="9604000" y="3080000"/>
            <a:ext cx="520000" cy="5200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</p:spPr>
        <p:txBody>
          <a:bodyPr/>
          <a:lstStyle/>
          <a:p>
            <a:endParaRPr lang="es-419"/>
          </a:p>
        </p:txBody>
      </p:sp>
      <p:sp>
        <p:nvSpPr>
          <p:cNvPr id="1044" name="Text"/>
          <p:cNvSpPr txBox="1"/>
          <p:nvPr/>
        </p:nvSpPr>
        <p:spPr>
          <a:xfrm>
            <a:off x="9604000" y="3080000"/>
            <a:ext cx="520000" cy="52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20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−</a:t>
            </a:r>
          </a:p>
        </p:txBody>
      </p:sp>
      <p:sp>
        <p:nvSpPr>
          <p:cNvPr id="1045" name="Text"/>
          <p:cNvSpPr txBox="1"/>
          <p:nvPr/>
        </p:nvSpPr>
        <p:spPr>
          <a:xfrm>
            <a:off x="10244000" y="3120000"/>
            <a:ext cx="6815300" cy="50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9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Contras</a:t>
            </a:r>
          </a:p>
        </p:txBody>
      </p:sp>
      <p:sp>
        <p:nvSpPr>
          <p:cNvPr id="1046" name="Text"/>
          <p:cNvSpPr txBox="1"/>
          <p:nvPr/>
        </p:nvSpPr>
        <p:spPr>
          <a:xfrm>
            <a:off x="9644000" y="3870000"/>
            <a:ext cx="7315300" cy="4380000"/>
          </a:xfrm>
          <a:prstGeom prst="rect">
            <a:avLst/>
          </a:prstGeo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Payload chico: máx. 250 bytes por paquete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“Mejor esfuerzo”: sin garantía de entrega ni ACK de app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Sin IP ni enrutamiento — hay que construirlo tú (como en malla)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Límite de peers cifrados simultáneos (~20)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Todos los nodos deben compartir el mismo canal Wi-Fi</a:t>
            </a:r>
          </a:p>
          <a:p>
            <a:pPr marL="285750" indent="-285750">
              <a:spcBef>
                <a:spcPts val="1500"/>
              </a:spcBef>
              <a:buFont typeface="Arial"/>
              <a:buChar char="•"/>
            </a:pPr>
            <a:r>
              <a:rPr lang="es-419" sz="12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Sujeto a interferencia en la banda 2.4 GHz saturada</a:t>
            </a:r>
          </a:p>
        </p:txBody>
      </p:sp>
      <p:sp>
        <p:nvSpPr>
          <p:cNvPr id="18" name="Freeform 18"/>
          <p:cNvSpPr/>
          <p:nvPr/>
        </p:nvSpPr>
        <p:spPr>
          <a:xfrm>
            <a:off x="-271776" y="8749435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02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HARDWARE</a:t>
            </a:r>
          </a:p>
        </p:txBody>
      </p:sp>
      <p:sp>
        <p:nvSpPr>
          <p:cNvPr id="1103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3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placas ESP soportan ESP-NOW?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088" name="Card"/>
          <p:cNvSpPr/>
          <p:nvPr/>
        </p:nvSpPr>
        <p:spPr>
          <a:xfrm>
            <a:off x="1028700" y="2820000"/>
            <a:ext cx="3862650" cy="290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89" name="Text"/>
          <p:cNvSpPr txBox="1"/>
          <p:nvPr/>
        </p:nvSpPr>
        <p:spPr>
          <a:xfrm>
            <a:off x="1248700" y="3020000"/>
            <a:ext cx="342265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ESP32</a:t>
            </a:r>
          </a:p>
        </p:txBody>
      </p:sp>
      <p:sp>
        <p:nvSpPr>
          <p:cNvPr id="1090" name="Text"/>
          <p:cNvSpPr txBox="1"/>
          <p:nvPr/>
        </p:nvSpPr>
        <p:spPr>
          <a:xfrm>
            <a:off x="1248700" y="3450000"/>
            <a:ext cx="3422650" cy="227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Original, dual-core — soporte completo</a:t>
            </a:r>
          </a:p>
        </p:txBody>
      </p:sp>
      <p:sp>
        <p:nvSpPr>
          <p:cNvPr id="1091" name="Card"/>
          <p:cNvSpPr/>
          <p:nvPr/>
        </p:nvSpPr>
        <p:spPr>
          <a:xfrm>
            <a:off x="5151350" y="2820000"/>
            <a:ext cx="3862650" cy="290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92" name="Text"/>
          <p:cNvSpPr txBox="1"/>
          <p:nvPr/>
        </p:nvSpPr>
        <p:spPr>
          <a:xfrm>
            <a:off x="5371350" y="3020000"/>
            <a:ext cx="342265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ESP32-S2 / S3</a:t>
            </a:r>
          </a:p>
        </p:txBody>
      </p:sp>
      <p:sp>
        <p:nvSpPr>
          <p:cNvPr id="1093" name="Text"/>
          <p:cNvSpPr txBox="1"/>
          <p:nvPr/>
        </p:nvSpPr>
        <p:spPr>
          <a:xfrm>
            <a:off x="5371350" y="3450000"/>
            <a:ext cx="3422650" cy="227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Con USB nativo — soporte completo</a:t>
            </a:r>
          </a:p>
        </p:txBody>
      </p:sp>
      <p:sp>
        <p:nvSpPr>
          <p:cNvPr id="1094" name="Card"/>
          <p:cNvSpPr/>
          <p:nvPr/>
        </p:nvSpPr>
        <p:spPr>
          <a:xfrm>
            <a:off x="9274000" y="2820000"/>
            <a:ext cx="3862650" cy="290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95" name="Text"/>
          <p:cNvSpPr txBox="1"/>
          <p:nvPr/>
        </p:nvSpPr>
        <p:spPr>
          <a:xfrm>
            <a:off x="9494000" y="3020000"/>
            <a:ext cx="342265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ESP32-C3 / C6 / H2</a:t>
            </a:r>
          </a:p>
        </p:txBody>
      </p:sp>
      <p:sp>
        <p:nvSpPr>
          <p:cNvPr id="1096" name="Text"/>
          <p:cNvSpPr txBox="1"/>
          <p:nvPr/>
        </p:nvSpPr>
        <p:spPr>
          <a:xfrm>
            <a:off x="9494000" y="3450000"/>
            <a:ext cx="3422650" cy="227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RISC-V, bajo costo — soporte completo</a:t>
            </a:r>
          </a:p>
        </p:txBody>
      </p:sp>
      <p:sp>
        <p:nvSpPr>
          <p:cNvPr id="1097" name="Card"/>
          <p:cNvSpPr/>
          <p:nvPr/>
        </p:nvSpPr>
        <p:spPr>
          <a:xfrm>
            <a:off x="13396650" y="2820000"/>
            <a:ext cx="3862650" cy="290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98" name="Text"/>
          <p:cNvSpPr txBox="1"/>
          <p:nvPr/>
        </p:nvSpPr>
        <p:spPr>
          <a:xfrm>
            <a:off x="13616650" y="3020000"/>
            <a:ext cx="342265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ESP8266</a:t>
            </a:r>
          </a:p>
        </p:txBody>
      </p:sp>
      <p:sp>
        <p:nvSpPr>
          <p:cNvPr id="1099" name="Text"/>
          <p:cNvSpPr txBox="1"/>
          <p:nvPr/>
        </p:nvSpPr>
        <p:spPr>
          <a:xfrm>
            <a:off x="13616650" y="3450000"/>
            <a:ext cx="3422650" cy="227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Soporte parcial — menos peers cifrados</a:t>
            </a:r>
          </a:p>
        </p:txBody>
      </p:sp>
      <p:sp>
        <p:nvSpPr>
          <p:cNvPr id="1100" name="Card"/>
          <p:cNvSpPr/>
          <p:nvPr/>
        </p:nvSpPr>
        <p:spPr>
          <a:xfrm>
            <a:off x="1028700" y="6120000"/>
            <a:ext cx="16230600" cy="2380000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 w="12700">
            <a:solidFill>
              <a:srgbClr val="A173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01" name="Text"/>
          <p:cNvSpPr txBox="1"/>
          <p:nvPr/>
        </p:nvSpPr>
        <p:spPr>
          <a:xfrm>
            <a:off x="1378700" y="6370000"/>
            <a:ext cx="15530600" cy="18800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En este taller:  </a:t>
            </a:r>
            <a:r>
              <a:rPr lang="es-419" sz="135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MeshNow corre sobre ESP32-C6, con pantalla SH1106 (I2C), botones, NeoPixels y buzzer — el mismo firmware para todos los nodos, solo cambia una bandera en config.h.</a:t>
            </a:r>
          </a:p>
        </p:txBody>
      </p:sp>
      <p:sp>
        <p:nvSpPr>
          <p:cNvPr id="18" name="Freeform 18"/>
          <p:cNvSpPr/>
          <p:nvPr/>
        </p:nvSpPr>
        <p:spPr>
          <a:xfrm>
            <a:off x="-271776" y="8749435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22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PRIMEROS PASOS</a:t>
            </a:r>
          </a:p>
        </p:txBody>
      </p:sp>
      <p:sp>
        <p:nvSpPr>
          <p:cNvPr id="1123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3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Cómo empezar con ESP-NOW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104" name="Card"/>
          <p:cNvSpPr/>
          <p:nvPr/>
        </p:nvSpPr>
        <p:spPr>
          <a:xfrm>
            <a:off x="1028700" y="282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05" name="Text"/>
          <p:cNvSpPr txBox="1"/>
          <p:nvPr/>
        </p:nvSpPr>
        <p:spPr>
          <a:xfrm>
            <a:off x="1248700" y="302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1. Instala el soporte ESP32</a:t>
            </a:r>
          </a:p>
        </p:txBody>
      </p:sp>
      <p:sp>
        <p:nvSpPr>
          <p:cNvPr id="1106" name="Text"/>
          <p:cNvSpPr txBox="1"/>
          <p:nvPr/>
        </p:nvSpPr>
        <p:spPr>
          <a:xfrm>
            <a:off x="1248700" y="345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Arduino IDE → Boards Manager → “esp32” (Espressif Systems).</a:t>
            </a:r>
          </a:p>
        </p:txBody>
      </p:sp>
      <p:sp>
        <p:nvSpPr>
          <p:cNvPr id="1107" name="Card"/>
          <p:cNvSpPr/>
          <p:nvPr/>
        </p:nvSpPr>
        <p:spPr>
          <a:xfrm>
            <a:off x="9274000" y="282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08" name="Text"/>
          <p:cNvSpPr txBox="1"/>
          <p:nvPr/>
        </p:nvSpPr>
        <p:spPr>
          <a:xfrm>
            <a:off x="9494000" y="302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Incluye las librerías</a:t>
            </a:r>
          </a:p>
        </p:txBody>
      </p:sp>
      <p:sp>
        <p:nvSpPr>
          <p:cNvPr id="1109" name="Text"/>
          <p:cNvSpPr txBox="1"/>
          <p:nvPr/>
        </p:nvSpPr>
        <p:spPr>
          <a:xfrm>
            <a:off x="9494000" y="345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#include &lt;WiFi.h&gt;  y  #include &lt;esp_now.h&gt;</a:t>
            </a:r>
          </a:p>
        </p:txBody>
      </p:sp>
      <p:sp>
        <p:nvSpPr>
          <p:cNvPr id="1110" name="Card"/>
          <p:cNvSpPr/>
          <p:nvPr/>
        </p:nvSpPr>
        <p:spPr>
          <a:xfrm>
            <a:off x="1028700" y="480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11" name="Text"/>
          <p:cNvSpPr txBox="1"/>
          <p:nvPr/>
        </p:nvSpPr>
        <p:spPr>
          <a:xfrm>
            <a:off x="1248700" y="500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3. Fija el modo y el canal</a:t>
            </a:r>
          </a:p>
        </p:txBody>
      </p:sp>
      <p:sp>
        <p:nvSpPr>
          <p:cNvPr id="1112" name="Text"/>
          <p:cNvSpPr txBox="1"/>
          <p:nvPr/>
        </p:nvSpPr>
        <p:spPr>
          <a:xfrm>
            <a:off x="1248700" y="543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WiFi.mode(WIFI_STA); esp_wifi_set_channel(canal, ...);</a:t>
            </a:r>
          </a:p>
        </p:txBody>
      </p:sp>
      <p:sp>
        <p:nvSpPr>
          <p:cNvPr id="1113" name="Card"/>
          <p:cNvSpPr/>
          <p:nvPr/>
        </p:nvSpPr>
        <p:spPr>
          <a:xfrm>
            <a:off x="9274000" y="480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14" name="Text"/>
          <p:cNvSpPr txBox="1"/>
          <p:nvPr/>
        </p:nvSpPr>
        <p:spPr>
          <a:xfrm>
            <a:off x="9494000" y="500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Inicializa ESP-NOW</a:t>
            </a:r>
          </a:p>
        </p:txBody>
      </p:sp>
      <p:sp>
        <p:nvSpPr>
          <p:cNvPr id="1115" name="Text"/>
          <p:cNvSpPr txBox="1"/>
          <p:nvPr/>
        </p:nvSpPr>
        <p:spPr>
          <a:xfrm>
            <a:off x="9494000" y="543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esp_now_init();  — revisa que devuelva ESP_OK.</a:t>
            </a:r>
          </a:p>
        </p:txBody>
      </p:sp>
      <p:sp>
        <p:nvSpPr>
          <p:cNvPr id="1116" name="Card"/>
          <p:cNvSpPr/>
          <p:nvPr/>
        </p:nvSpPr>
        <p:spPr>
          <a:xfrm>
            <a:off x="1028700" y="678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17" name="Text"/>
          <p:cNvSpPr txBox="1"/>
          <p:nvPr/>
        </p:nvSpPr>
        <p:spPr>
          <a:xfrm>
            <a:off x="1248700" y="698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Registra tus callbacks</a:t>
            </a:r>
          </a:p>
        </p:txBody>
      </p:sp>
      <p:sp>
        <p:nvSpPr>
          <p:cNvPr id="1118" name="Text"/>
          <p:cNvSpPr txBox="1"/>
          <p:nvPr/>
        </p:nvSpPr>
        <p:spPr>
          <a:xfrm>
            <a:off x="1248700" y="741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esp_now_register_recv_cb(onRecv); para recibir datos.</a:t>
            </a:r>
          </a:p>
        </p:txBody>
      </p:sp>
      <p:sp>
        <p:nvSpPr>
          <p:cNvPr id="1119" name="Card"/>
          <p:cNvSpPr/>
          <p:nvPr/>
        </p:nvSpPr>
        <p:spPr>
          <a:xfrm>
            <a:off x="9274000" y="678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20" name="Text"/>
          <p:cNvSpPr txBox="1"/>
          <p:nvPr/>
        </p:nvSpPr>
        <p:spPr>
          <a:xfrm>
            <a:off x="9494000" y="698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6. Agrega un peer y envía</a:t>
            </a:r>
          </a:p>
        </p:txBody>
      </p:sp>
      <p:sp>
        <p:nvSpPr>
          <p:cNvPr id="1121" name="Text"/>
          <p:cNvSpPr txBox="1"/>
          <p:nvPr/>
        </p:nvSpPr>
        <p:spPr>
          <a:xfrm>
            <a:off x="9494000" y="741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esp_now_add_peer(...); luego esp_now_send(mac, datos, len);</a:t>
            </a:r>
          </a:p>
        </p:txBody>
      </p:sp>
      <p:sp>
        <p:nvSpPr>
          <p:cNvPr id="18" name="Freeform 18"/>
          <p:cNvSpPr/>
          <p:nvPr/>
        </p:nvSpPr>
        <p:spPr>
          <a:xfrm>
            <a:off x="-271776" y="8749435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75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ARQUITECTURA DEL FIRMWARE</a:t>
            </a:r>
          </a:p>
        </p:txBody>
      </p:sp>
      <p:sp>
        <p:nvSpPr>
          <p:cNvPr id="1176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3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Cómo está organizado el código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157" name="Card"/>
          <p:cNvSpPr/>
          <p:nvPr/>
        </p:nvSpPr>
        <p:spPr>
          <a:xfrm>
            <a:off x="1028700" y="282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58" name="Text"/>
          <p:cNvSpPr txBox="1"/>
          <p:nvPr/>
        </p:nvSpPr>
        <p:spPr>
          <a:xfrm>
            <a:off x="1248700" y="302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MeshNow.ino</a:t>
            </a:r>
          </a:p>
        </p:txBody>
      </p:sp>
      <p:sp>
        <p:nvSpPr>
          <p:cNvPr id="1159" name="Text"/>
          <p:cNvSpPr txBox="1"/>
          <p:nvPr/>
        </p:nvSpPr>
        <p:spPr>
          <a:xfrm>
            <a:off x="1248700" y="345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setup() / loop() — arranca todo y orquesta el ciclo principal</a:t>
            </a:r>
          </a:p>
        </p:txBody>
      </p:sp>
      <p:sp>
        <p:nvSpPr>
          <p:cNvPr id="1160" name="Card"/>
          <p:cNvSpPr/>
          <p:nvPr/>
        </p:nvSpPr>
        <p:spPr>
          <a:xfrm>
            <a:off x="9274000" y="282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61" name="Text"/>
          <p:cNvSpPr txBox="1"/>
          <p:nvPr/>
        </p:nvSpPr>
        <p:spPr>
          <a:xfrm>
            <a:off x="9494000" y="302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config.h</a:t>
            </a:r>
          </a:p>
        </p:txBody>
      </p:sp>
      <p:sp>
        <p:nvSpPr>
          <p:cNvPr id="1162" name="Text"/>
          <p:cNvSpPr txBox="1"/>
          <p:nvPr/>
        </p:nvSpPr>
        <p:spPr>
          <a:xfrm>
            <a:off x="9494000" y="345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Pines, parámetros de la malla (canal, TTL, timeouts) y IS_MASTER</a:t>
            </a:r>
          </a:p>
        </p:txBody>
      </p:sp>
      <p:sp>
        <p:nvSpPr>
          <p:cNvPr id="1163" name="Card"/>
          <p:cNvSpPr/>
          <p:nvPr/>
        </p:nvSpPr>
        <p:spPr>
          <a:xfrm>
            <a:off x="1028700" y="480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64" name="Text"/>
          <p:cNvSpPr txBox="1"/>
          <p:nvPr/>
        </p:nvSpPr>
        <p:spPr>
          <a:xfrm>
            <a:off x="1248700" y="500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mesh.h / mesh.cpp</a:t>
            </a:r>
          </a:p>
        </p:txBody>
      </p:sp>
      <p:sp>
        <p:nvSpPr>
          <p:cNvPr id="1165" name="Text"/>
          <p:cNvSpPr txBox="1"/>
          <p:nvPr/>
        </p:nvSpPr>
        <p:spPr>
          <a:xfrm>
            <a:off x="1248700" y="543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Núcleo ESP-NOW: init, envío, recepción y reenvío multi-salto</a:t>
            </a:r>
          </a:p>
        </p:txBody>
      </p:sp>
      <p:sp>
        <p:nvSpPr>
          <p:cNvPr id="1166" name="Card"/>
          <p:cNvSpPr/>
          <p:nvPr/>
        </p:nvSpPr>
        <p:spPr>
          <a:xfrm>
            <a:off x="9274000" y="480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67" name="Text"/>
          <p:cNvSpPr txBox="1"/>
          <p:nvPr/>
        </p:nvSpPr>
        <p:spPr>
          <a:xfrm>
            <a:off x="9494000" y="500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ui.h / ui.cpp</a:t>
            </a:r>
          </a:p>
        </p:txBody>
      </p:sp>
      <p:sp>
        <p:nvSpPr>
          <p:cNvPr id="1168" name="Text"/>
          <p:cNvSpPr txBox="1"/>
          <p:nvPr/>
        </p:nvSpPr>
        <p:spPr>
          <a:xfrm>
            <a:off x="9494000" y="543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Pantallas, menú y botones (máquina de estados de la OLED)</a:t>
            </a:r>
          </a:p>
        </p:txBody>
      </p:sp>
      <p:sp>
        <p:nvSpPr>
          <p:cNvPr id="1169" name="Card"/>
          <p:cNvSpPr/>
          <p:nvPr/>
        </p:nvSpPr>
        <p:spPr>
          <a:xfrm>
            <a:off x="1028700" y="678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70" name="Text"/>
          <p:cNvSpPr txBox="1"/>
          <p:nvPr/>
        </p:nvSpPr>
        <p:spPr>
          <a:xfrm>
            <a:off x="1248700" y="698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buzzer.h/.cpp · neopixel.h/.cpp</a:t>
            </a:r>
          </a:p>
        </p:txBody>
      </p:sp>
      <p:sp>
        <p:nvSpPr>
          <p:cNvPr id="1171" name="Text"/>
          <p:cNvSpPr txBox="1"/>
          <p:nvPr/>
        </p:nvSpPr>
        <p:spPr>
          <a:xfrm>
            <a:off x="1248700" y="741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Feedback físico: sonido y luces</a:t>
            </a:r>
          </a:p>
        </p:txBody>
      </p:sp>
      <p:sp>
        <p:nvSpPr>
          <p:cNvPr id="1172" name="Card"/>
          <p:cNvSpPr/>
          <p:nvPr/>
        </p:nvSpPr>
        <p:spPr>
          <a:xfrm>
            <a:off x="9274000" y="678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73" name="Text"/>
          <p:cNvSpPr txBox="1"/>
          <p:nvPr/>
        </p:nvSpPr>
        <p:spPr>
          <a:xfrm>
            <a:off x="9494000" y="698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serialmaster.h / .cpp</a:t>
            </a:r>
          </a:p>
        </p:txBody>
      </p:sp>
      <p:sp>
        <p:nvSpPr>
          <p:cNvPr id="1174" name="Text"/>
          <p:cNvSpPr txBox="1"/>
          <p:nvPr/>
        </p:nvSpPr>
        <p:spPr>
          <a:xfrm>
            <a:off x="9494000" y="7410000"/>
            <a:ext cx="7545300" cy="109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Terminal “Modo PC” del nodo maestro (para LabVIEW)</a:t>
            </a:r>
          </a:p>
        </p:txBody>
      </p:sp>
      <p:sp>
        <p:nvSpPr>
          <p:cNvPr id="18" name="Freeform 18"/>
          <p:cNvSpPr/>
          <p:nvPr/>
        </p:nvSpPr>
        <p:spPr>
          <a:xfrm>
            <a:off x="-271776" y="8749435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1028700" y="4423356"/>
            <a:ext cx="908536" cy="908536"/>
          </a:xfrm>
          <a:custGeom>
            <a:avLst/>
            <a:gdLst/>
            <a:ahLst/>
            <a:cxnLst/>
            <a:rect l="l" t="t" r="r" b="b"/>
            <a:pathLst>
              <a:path w="908536" h="908536">
                <a:moveTo>
                  <a:pt x="0" y="0"/>
                </a:moveTo>
                <a:lnTo>
                  <a:pt x="908536" y="0"/>
                </a:lnTo>
                <a:lnTo>
                  <a:pt x="908536" y="908537"/>
                </a:lnTo>
                <a:lnTo>
                  <a:pt x="0" y="908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5"/>
          <p:cNvSpPr/>
          <p:nvPr/>
        </p:nvSpPr>
        <p:spPr>
          <a:xfrm>
            <a:off x="1028700" y="6508778"/>
            <a:ext cx="908536" cy="908536"/>
          </a:xfrm>
          <a:custGeom>
            <a:avLst/>
            <a:gdLst/>
            <a:ahLst/>
            <a:cxnLst/>
            <a:rect l="l" t="t" r="r" b="b"/>
            <a:pathLst>
              <a:path w="908536" h="908536">
                <a:moveTo>
                  <a:pt x="0" y="0"/>
                </a:moveTo>
                <a:lnTo>
                  <a:pt x="908536" y="0"/>
                </a:lnTo>
                <a:lnTo>
                  <a:pt x="908536" y="908537"/>
                </a:lnTo>
                <a:lnTo>
                  <a:pt x="0" y="908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6" name="Group 6"/>
          <p:cNvGrpSpPr/>
          <p:nvPr/>
        </p:nvGrpSpPr>
        <p:grpSpPr>
          <a:xfrm>
            <a:off x="10358534" y="0"/>
            <a:ext cx="8179946" cy="10287000"/>
            <a:chOff x="0" y="0"/>
            <a:chExt cx="9387829" cy="11806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87829" cy="11806020"/>
            </a:xfrm>
            <a:custGeom>
              <a:avLst/>
              <a:gdLst/>
              <a:ahLst/>
              <a:cxnLst/>
              <a:rect l="l" t="t" r="r" b="b"/>
              <a:pathLst>
                <a:path w="9387829" h="11806020">
                  <a:moveTo>
                    <a:pt x="0" y="11806020"/>
                  </a:moveTo>
                  <a:lnTo>
                    <a:pt x="1090910" y="0"/>
                  </a:lnTo>
                  <a:lnTo>
                    <a:pt x="9387829" y="0"/>
                  </a:lnTo>
                  <a:lnTo>
                    <a:pt x="8296919" y="11806020"/>
                  </a:lnTo>
                  <a:close/>
                </a:path>
              </a:pathLst>
            </a:custGeom>
            <a:blipFill>
              <a:blip r:embed="rId4"/>
              <a:stretch>
                <a:fillRect l="-61785" r="-61785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938326"/>
            <a:ext cx="7513966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FLOODING TTL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94882" y="4206389"/>
            <a:ext cx="6708043" cy="164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655"/>
              </a:lnSpc>
              <a:spcBef>
                <a:spcPct val="0"/>
              </a:spcBef>
            </a:pPr>
            <a:r>
              <a:rPr lang="en-US" sz="1896" u="none" strike="noStrike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No hay tabla de rutas: cada paquete (struct MeshPacket) lleva un TTL y un número de secuencia único por origen. Si un nodo no lo ha visto, lo procesa y —si TTL&gt;0— lo reenvía en broadcast con TTL menos uno.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0876" y="4650930"/>
            <a:ext cx="62474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94882" y="6291810"/>
            <a:ext cx="6708043" cy="164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655"/>
              </a:lnSpc>
              <a:spcBef>
                <a:spcPct val="0"/>
              </a:spcBef>
            </a:pPr>
            <a:r>
              <a:rPr lang="en-US" sz="1896" u="none" strike="noStrike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Un caché seen[] de (srcId, seq) evita duplicados infinitos. El callback de ESP-NOW solo copia el paquete a una cola (rxq); todo el procesamiento pesado ocurre después, en meshLoop().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0876" y="6736351"/>
            <a:ext cx="62474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2</a:t>
            </a:r>
          </a:p>
        </p:txBody>
      </p:sp>
      <p:sp>
        <p:nvSpPr>
          <p:cNvPr id="18" name="Freeform 18"/>
          <p:cNvSpPr/>
          <p:nvPr/>
        </p:nvSpPr>
        <p:spPr>
          <a:xfrm>
            <a:off x="-271776" y="8749435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207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MANOS A LA OBRA</a:t>
            </a:r>
          </a:p>
        </p:txBody>
      </p:sp>
      <p:sp>
        <p:nvSpPr>
          <p:cNvPr id="1208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3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Cómo lo vamos a probar hoy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177" name="Card"/>
          <p:cNvSpPr/>
          <p:nvPr/>
        </p:nvSpPr>
        <p:spPr>
          <a:xfrm>
            <a:off x="1028700" y="282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78" name="Card"/>
          <p:cNvSpPr/>
          <p:nvPr/>
        </p:nvSpPr>
        <p:spPr>
          <a:xfrm>
            <a:off x="1248700" y="30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79" name="Text"/>
          <p:cNvSpPr txBox="1"/>
          <p:nvPr/>
        </p:nvSpPr>
        <p:spPr>
          <a:xfrm>
            <a:off x="1248700" y="30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1</a:t>
            </a:r>
          </a:p>
        </p:txBody>
      </p:sp>
      <p:sp>
        <p:nvSpPr>
          <p:cNvPr id="1180" name="Text"/>
          <p:cNvSpPr txBox="1"/>
          <p:nvPr/>
        </p:nvSpPr>
        <p:spPr>
          <a:xfrm>
            <a:off x="1248700" y="365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Flashea el maestro</a:t>
            </a:r>
          </a:p>
        </p:txBody>
      </p:sp>
      <p:sp>
        <p:nvSpPr>
          <p:cNvPr id="1181" name="Text"/>
          <p:cNvSpPr txBox="1"/>
          <p:nvPr/>
        </p:nvSpPr>
        <p:spPr>
          <a:xfrm>
            <a:off x="1248700" y="408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En config.h, deja IS_MASTER = 1 en la placa que vas a conectar a la PC.</a:t>
            </a:r>
          </a:p>
        </p:txBody>
      </p:sp>
      <p:sp>
        <p:nvSpPr>
          <p:cNvPr id="1182" name="Card"/>
          <p:cNvSpPr/>
          <p:nvPr/>
        </p:nvSpPr>
        <p:spPr>
          <a:xfrm>
            <a:off x="6525566" y="282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83" name="Card"/>
          <p:cNvSpPr/>
          <p:nvPr/>
        </p:nvSpPr>
        <p:spPr>
          <a:xfrm>
            <a:off x="6745566" y="30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84" name="Text"/>
          <p:cNvSpPr txBox="1"/>
          <p:nvPr/>
        </p:nvSpPr>
        <p:spPr>
          <a:xfrm>
            <a:off x="6745566" y="30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2</a:t>
            </a:r>
          </a:p>
        </p:txBody>
      </p:sp>
      <p:sp>
        <p:nvSpPr>
          <p:cNvPr id="1185" name="Text"/>
          <p:cNvSpPr txBox="1"/>
          <p:nvPr/>
        </p:nvSpPr>
        <p:spPr>
          <a:xfrm>
            <a:off x="6745566" y="365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Flashea el resto</a:t>
            </a:r>
          </a:p>
        </p:txBody>
      </p:sp>
      <p:sp>
        <p:nvSpPr>
          <p:cNvPr id="1186" name="Text"/>
          <p:cNvSpPr txBox="1"/>
          <p:nvPr/>
        </p:nvSpPr>
        <p:spPr>
          <a:xfrm>
            <a:off x="6745566" y="408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En las demás placas, IS_MASTER = 0. Mismo .ino, mismo MESH_CHANNEL.</a:t>
            </a:r>
          </a:p>
        </p:txBody>
      </p:sp>
      <p:sp>
        <p:nvSpPr>
          <p:cNvPr id="1187" name="Card"/>
          <p:cNvSpPr/>
          <p:nvPr/>
        </p:nvSpPr>
        <p:spPr>
          <a:xfrm>
            <a:off x="12022433" y="282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88" name="Card"/>
          <p:cNvSpPr/>
          <p:nvPr/>
        </p:nvSpPr>
        <p:spPr>
          <a:xfrm>
            <a:off x="12242433" y="30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89" name="Text"/>
          <p:cNvSpPr txBox="1"/>
          <p:nvPr/>
        </p:nvSpPr>
        <p:spPr>
          <a:xfrm>
            <a:off x="12242433" y="30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3</a:t>
            </a:r>
          </a:p>
        </p:txBody>
      </p:sp>
      <p:sp>
        <p:nvSpPr>
          <p:cNvPr id="1190" name="Text"/>
          <p:cNvSpPr txBox="1"/>
          <p:nvPr/>
        </p:nvSpPr>
        <p:spPr>
          <a:xfrm>
            <a:off x="12242433" y="365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Enciende todos los nodos</a:t>
            </a:r>
          </a:p>
        </p:txBody>
      </p:sp>
      <p:sp>
        <p:nvSpPr>
          <p:cNvPr id="1191" name="Text"/>
          <p:cNvSpPr txBox="1"/>
          <p:nvPr/>
        </p:nvSpPr>
        <p:spPr>
          <a:xfrm>
            <a:off x="12242433" y="408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Verás el splash “MeshNow” y luego el menú principal en la OLED.</a:t>
            </a:r>
          </a:p>
        </p:txBody>
      </p:sp>
      <p:sp>
        <p:nvSpPr>
          <p:cNvPr id="1192" name="Card"/>
          <p:cNvSpPr/>
          <p:nvPr/>
        </p:nvSpPr>
        <p:spPr>
          <a:xfrm>
            <a:off x="1028700" y="579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93" name="Card"/>
          <p:cNvSpPr/>
          <p:nvPr/>
        </p:nvSpPr>
        <p:spPr>
          <a:xfrm>
            <a:off x="1248700" y="601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94" name="Text"/>
          <p:cNvSpPr txBox="1"/>
          <p:nvPr/>
        </p:nvSpPr>
        <p:spPr>
          <a:xfrm>
            <a:off x="1248700" y="601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4</a:t>
            </a:r>
          </a:p>
        </p:txBody>
      </p:sp>
      <p:sp>
        <p:nvSpPr>
          <p:cNvPr id="1195" name="Text"/>
          <p:cNvSpPr txBox="1"/>
          <p:nvPr/>
        </p:nvSpPr>
        <p:spPr>
          <a:xfrm>
            <a:off x="1248700" y="662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Explora la malla</a:t>
            </a:r>
          </a:p>
        </p:txBody>
      </p:sp>
      <p:sp>
        <p:nvSpPr>
          <p:cNvPr id="1196" name="Text"/>
          <p:cNvSpPr txBox="1"/>
          <p:nvPr/>
        </p:nvSpPr>
        <p:spPr>
          <a:xfrm>
            <a:off x="1248700" y="705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Métricas (tx/rx/relay), Red/Vecinos (RSSI y saltos), Ping activos, Scanner.</a:t>
            </a:r>
          </a:p>
        </p:txBody>
      </p:sp>
      <p:sp>
        <p:nvSpPr>
          <p:cNvPr id="1197" name="Card"/>
          <p:cNvSpPr/>
          <p:nvPr/>
        </p:nvSpPr>
        <p:spPr>
          <a:xfrm>
            <a:off x="6525566" y="579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198" name="Card"/>
          <p:cNvSpPr/>
          <p:nvPr/>
        </p:nvSpPr>
        <p:spPr>
          <a:xfrm>
            <a:off x="6745566" y="601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199" name="Text"/>
          <p:cNvSpPr txBox="1"/>
          <p:nvPr/>
        </p:nvSpPr>
        <p:spPr>
          <a:xfrm>
            <a:off x="6745566" y="601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5</a:t>
            </a:r>
          </a:p>
        </p:txBody>
      </p:sp>
      <p:sp>
        <p:nvSpPr>
          <p:cNvPr id="1200" name="Text"/>
          <p:cNvSpPr txBox="1"/>
          <p:nvPr/>
        </p:nvSpPr>
        <p:spPr>
          <a:xfrm>
            <a:off x="6745566" y="662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Manda un mensaje</a:t>
            </a:r>
          </a:p>
        </p:txBody>
      </p:sp>
      <p:sp>
        <p:nvSpPr>
          <p:cNvPr id="1201" name="Text"/>
          <p:cNvSpPr txBox="1"/>
          <p:nvPr/>
        </p:nvSpPr>
        <p:spPr>
          <a:xfrm>
            <a:off x="6745566" y="705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Elige destino (Todos o un nodo) y un mensaje prehecho del catálogo.</a:t>
            </a:r>
          </a:p>
        </p:txBody>
      </p:sp>
      <p:sp>
        <p:nvSpPr>
          <p:cNvPr id="1202" name="Card"/>
          <p:cNvSpPr/>
          <p:nvPr/>
        </p:nvSpPr>
        <p:spPr>
          <a:xfrm>
            <a:off x="12022433" y="5790000"/>
            <a:ext cx="5236866" cy="271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203" name="Card"/>
          <p:cNvSpPr/>
          <p:nvPr/>
        </p:nvSpPr>
        <p:spPr>
          <a:xfrm>
            <a:off x="12242433" y="601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204" name="Text"/>
          <p:cNvSpPr txBox="1"/>
          <p:nvPr/>
        </p:nvSpPr>
        <p:spPr>
          <a:xfrm>
            <a:off x="12242433" y="601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6</a:t>
            </a:r>
          </a:p>
        </p:txBody>
      </p:sp>
      <p:sp>
        <p:nvSpPr>
          <p:cNvPr id="1205" name="Text"/>
          <p:cNvSpPr txBox="1"/>
          <p:nvPr/>
        </p:nvSpPr>
        <p:spPr>
          <a:xfrm>
            <a:off x="12242433" y="6620000"/>
            <a:ext cx="4796866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Modo PC (maestro)</a:t>
            </a:r>
          </a:p>
        </p:txBody>
      </p:sp>
      <p:sp>
        <p:nvSpPr>
          <p:cNvPr id="1206" name="Text"/>
          <p:cNvSpPr txBox="1"/>
          <p:nvPr/>
        </p:nvSpPr>
        <p:spPr>
          <a:xfrm>
            <a:off x="12242433" y="7050000"/>
            <a:ext cx="4796866" cy="145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Terminal por serial: status, nodes, send, sendto, ping, rgb, buzzer...</a:t>
            </a:r>
          </a:p>
        </p:txBody>
      </p:sp>
      <p:sp>
        <p:nvSpPr>
          <p:cNvPr id="18" name="Freeform 18"/>
          <p:cNvSpPr/>
          <p:nvPr/>
        </p:nvSpPr>
        <p:spPr>
          <a:xfrm>
            <a:off x="-271776" y="8749435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8407101" y="0"/>
            <a:ext cx="9880899" cy="10287000"/>
            <a:chOff x="0" y="0"/>
            <a:chExt cx="13174532" cy="13716000"/>
          </a:xfrm>
        </p:grpSpPr>
        <p:sp>
          <p:nvSpPr>
            <p:cNvPr id="4" name="CodePlaceholder"/>
            <p:cNvSpPr/>
            <p:nvPr/>
          </p:nvSpPr>
          <p:spPr>
            <a:xfrm>
              <a:off x="0" y="0"/>
              <a:ext cx="8698355" cy="13716000"/>
            </a:xfrm>
            <a:prstGeom prst="roundRect">
              <a:avLst>
                <a:gd name="adj" fmla="val 3500"/>
              </a:avLst>
            </a:prstGeom>
            <a:solidFill>
              <a:srgbClr val="1B1233"/>
            </a:solidFill>
            <a:ln w="28575">
              <a:solidFill>
                <a:srgbClr val="A173FD"/>
              </a:solidFill>
              <a:prstDash val="dash"/>
            </a:ln>
          </p:spPr>
          <p:txBody>
            <a:bodyPr anchor="ctr" anchorCtr="1" lIns="228600" rIns="228600"/>
            <a:lstStyle/>
            <a:p>
              <a:pPr algn="ctr"/>
              <a:r>
                <a:rPr lang="es-419" sz="2400" b="1" dirty="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Espacio para imagen — meshBegin()</a:t>
              </a:r>
            </a:p>
            <a:p>
              <a:pPr algn="ctr">
                <a:spcBef>
                  <a:spcPts val="1200"/>
                </a:spcBef>
              </a:pPr>
              <a:r>
                <a:rPr lang="es-419" sz="1400" dirty="0">
                  <a:solidFill>
                    <a:srgbClr val="C9BFE8"/>
                  </a:solidFill>
                  <a:latin typeface="TT Norms"/>
                  <a:ea typeface="TT Norms"/>
                  <a:cs typeface="TT Norms"/>
                  <a:sym typeface="TT Norms"/>
                </a:rPr>
                <a:t>Pega aquí tu captura de pantalla del código comentado</a:t>
              </a:r>
            </a:p>
          </p:txBody>
        </p: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t="15564" b="15564"/>
            <a:stretch>
              <a:fillRect/>
            </a:stretch>
          </p:blipFill>
          <p:spPr>
            <a:xfrm>
              <a:off x="8825355" y="0"/>
              <a:ext cx="4349177" cy="4487333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l="18076" r="18076"/>
            <a:stretch>
              <a:fillRect/>
            </a:stretch>
          </p:blipFill>
          <p:spPr>
            <a:xfrm>
              <a:off x="8825355" y="4614333"/>
              <a:ext cx="4349177" cy="4487333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/>
            <a:srcRect l="17713" r="17713"/>
            <a:stretch>
              <a:fillRect/>
            </a:stretch>
          </p:blipFill>
          <p:spPr>
            <a:xfrm>
              <a:off x="8825355" y="9228667"/>
              <a:ext cx="4349177" cy="4487333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1028700" y="3261868"/>
            <a:ext cx="7513966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CÓDIGO: INIT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596395"/>
            <a:ext cx="6567938" cy="331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655"/>
              </a:lnSpc>
              <a:spcBef>
                <a:spcPct val="0"/>
              </a:spcBef>
            </a:pPr>
            <a:r>
              <a:rPr lang="en-US" sz="1896" u="none" strike="noStrike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meshBegin() fija WiFi.mode(WIFI_STA) y el canal con esp_wifi_set_channel(); deriva un id de 16 bits desde la MAC (WiFi.macAddress) —sin tocar código por placa—; llama esp_now_init() y valida ESP_OK; registra el callback con esp_now_register_recv_cb(onRecv); y agrega la MAC de broadcast FF:FF:FF:FF:FF:FF como peer, así todo se manda a todos y cada nodo decide si el mensaje es para él.</a:t>
            </a:r>
          </a:p>
        </p:txBody>
      </p:sp>
      <p:sp>
        <p:nvSpPr>
          <p:cNvPr id="16" name="Freeform 16"/>
          <p:cNvSpPr/>
          <p:nvPr/>
        </p:nvSpPr>
        <p:spPr>
          <a:xfrm>
            <a:off x="-271776" y="8736118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1"/>
                </a:lnTo>
                <a:lnTo>
                  <a:pt x="0" y="1017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8407101" y="0"/>
            <a:ext cx="9880899" cy="10287000"/>
            <a:chOff x="0" y="0"/>
            <a:chExt cx="13174532" cy="13716000"/>
          </a:xfrm>
        </p:grpSpPr>
        <p:sp>
          <p:nvSpPr>
            <p:cNvPr id="4" name="CodePlaceholder"/>
            <p:cNvSpPr/>
            <p:nvPr/>
          </p:nvSpPr>
          <p:spPr>
            <a:xfrm>
              <a:off x="0" y="0"/>
              <a:ext cx="8698355" cy="13716000"/>
            </a:xfrm>
            <a:prstGeom prst="roundRect">
              <a:avLst>
                <a:gd name="adj" fmla="val 3500"/>
              </a:avLst>
            </a:prstGeom>
            <a:solidFill>
              <a:srgbClr val="1B1233"/>
            </a:solidFill>
            <a:ln w="28575">
              <a:solidFill>
                <a:srgbClr val="A173FD"/>
              </a:solidFill>
              <a:prstDash val="dash"/>
            </a:ln>
          </p:spPr>
          <p:txBody>
            <a:bodyPr anchor="ctr" anchorCtr="1" lIns="228600" rIns="228600"/>
            <a:lstStyle/>
            <a:p>
              <a:pPr algn="ctr"/>
              <a:r>
                <a:rPr lang="es-419" sz="2400" b="1" dirty="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Espacio para imagen — onRecv() / processPacket()</a:t>
              </a:r>
            </a:p>
            <a:p>
              <a:pPr algn="ctr">
                <a:spcBef>
                  <a:spcPts val="1200"/>
                </a:spcBef>
              </a:pPr>
              <a:r>
                <a:rPr lang="es-419" sz="1400" dirty="0">
                  <a:solidFill>
                    <a:srgbClr val="C9BFE8"/>
                  </a:solidFill>
                  <a:latin typeface="TT Norms"/>
                  <a:ea typeface="TT Norms"/>
                  <a:cs typeface="TT Norms"/>
                  <a:sym typeface="TT Norms"/>
                </a:rPr>
                <a:t>Pega aquí tu captura de pantalla del código comentado</a:t>
              </a:r>
            </a:p>
          </p:txBody>
        </p: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t="15564" b="15564"/>
            <a:stretch>
              <a:fillRect/>
            </a:stretch>
          </p:blipFill>
          <p:spPr>
            <a:xfrm>
              <a:off x="8825355" y="0"/>
              <a:ext cx="4349177" cy="4487333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l="18076" r="18076"/>
            <a:stretch>
              <a:fillRect/>
            </a:stretch>
          </p:blipFill>
          <p:spPr>
            <a:xfrm>
              <a:off x="8825355" y="4614333"/>
              <a:ext cx="4349177" cy="4487333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/>
            <a:srcRect l="17713" r="17713"/>
            <a:stretch>
              <a:fillRect/>
            </a:stretch>
          </p:blipFill>
          <p:spPr>
            <a:xfrm>
              <a:off x="8825355" y="9228667"/>
              <a:ext cx="4349177" cy="4487333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1028700" y="3261868"/>
            <a:ext cx="7513966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RECEPCIÓN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596395"/>
            <a:ext cx="6567938" cy="331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655"/>
              </a:lnSpc>
              <a:spcBef>
                <a:spcPct val="0"/>
              </a:spcBef>
            </a:pPr>
            <a:r>
              <a:rPr lang="en-US" sz="1896" u="none" strike="noStrike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onRecv() corre en el contexto de Wi-Fi: solo copia el paquete a una cola circular (rxq) y sale. meshLoop() drena esa cola y llama processPacket(): seenBefore(srcId, seq) descarta duplicados, updateNode() actualiza la tabla de vecinos, handleApp() interpreta el tipo de paquete (HELLO, PING, PONG, TEXT, BUZZ), y si ttl &gt; 0 el paquete se reenvía con ttl-- y hops++ —así nace el multi-salto.</a:t>
            </a:r>
          </a:p>
        </p:txBody>
      </p:sp>
      <p:sp>
        <p:nvSpPr>
          <p:cNvPr id="16" name="Freeform 16"/>
          <p:cNvSpPr/>
          <p:nvPr/>
        </p:nvSpPr>
        <p:spPr>
          <a:xfrm>
            <a:off x="-271776" y="8736118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1"/>
                </a:lnTo>
                <a:lnTo>
                  <a:pt x="0" y="1017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31" name="Kicker"/>
          <p:cNvSpPr txBox="1"/>
          <p:nvPr/>
        </p:nvSpPr>
        <p:spPr>
          <a:xfrm>
            <a:off x="1028700" y="1450000"/>
            <a:ext cx="9000000" cy="2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1300" b="1" spc="150" dirty="0">
                <a:solidFill>
                  <a:srgbClr val="A173FD"/>
                </a:solidFill>
                <a:latin typeface="TT Norms Bold"/>
                <a:ea typeface="TT Norms Bold"/>
                <a:cs typeface="TT Norms Bold"/>
                <a:sym typeface="TT Norms Bold"/>
              </a:rPr>
              <a:t>AGENDA DEL TALLER</a:t>
            </a:r>
          </a:p>
        </p:txBody>
      </p:sp>
      <p:sp>
        <p:nvSpPr>
          <p:cNvPr id="1032" name="Title"/>
          <p:cNvSpPr txBox="1"/>
          <p:nvPr/>
        </p:nvSpPr>
        <p:spPr>
          <a:xfrm>
            <a:off x="1028700" y="1780000"/>
            <a:ext cx="14000000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419" sz="4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Qué vamos a cubrir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9860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4041" y="1212216"/>
            <a:ext cx="847412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8628" y="1212216"/>
            <a:ext cx="110573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23945" y="1212216"/>
            <a:ext cx="1335355" cy="2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874"/>
              </a:lnSpc>
              <a:spcBef>
                <a:spcPct val="0"/>
              </a:spcBef>
            </a:pPr>
            <a:r>
              <a:rPr lang="en-US" sz="1453" u="none" strike="noStrike" spc="-7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CONTACT US</a:t>
            </a:r>
          </a:p>
        </p:txBody>
      </p:sp>
      <p:sp>
        <p:nvSpPr>
          <p:cNvPr id="1001" name="Card"/>
          <p:cNvSpPr/>
          <p:nvPr/>
        </p:nvSpPr>
        <p:spPr>
          <a:xfrm>
            <a:off x="1028700" y="282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02" name="Card"/>
          <p:cNvSpPr/>
          <p:nvPr/>
        </p:nvSpPr>
        <p:spPr>
          <a:xfrm>
            <a:off x="1248700" y="30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03" name="Text"/>
          <p:cNvSpPr txBox="1"/>
          <p:nvPr/>
        </p:nvSpPr>
        <p:spPr>
          <a:xfrm>
            <a:off x="1248700" y="30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1</a:t>
            </a:r>
          </a:p>
        </p:txBody>
      </p:sp>
      <p:sp>
        <p:nvSpPr>
          <p:cNvPr id="1004" name="Text"/>
          <p:cNvSpPr txBox="1"/>
          <p:nvPr/>
        </p:nvSpPr>
        <p:spPr>
          <a:xfrm>
            <a:off x="1248700" y="365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¿Qué es ESP-NOW?</a:t>
            </a:r>
          </a:p>
        </p:txBody>
      </p:sp>
      <p:sp>
        <p:nvSpPr>
          <p:cNvPr id="1005" name="Text"/>
          <p:cNvSpPr txBox="1"/>
          <p:nvPr/>
        </p:nvSpPr>
        <p:spPr>
          <a:xfrm>
            <a:off x="1248700" y="4080000"/>
            <a:ext cx="7545300" cy="46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El protocolo, cómo se diferencia de Wi-Fi/Bluetooth</a:t>
            </a:r>
          </a:p>
        </p:txBody>
      </p:sp>
      <p:sp>
        <p:nvSpPr>
          <p:cNvPr id="1006" name="Card"/>
          <p:cNvSpPr/>
          <p:nvPr/>
        </p:nvSpPr>
        <p:spPr>
          <a:xfrm>
            <a:off x="9274000" y="282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07" name="Card"/>
          <p:cNvSpPr/>
          <p:nvPr/>
        </p:nvSpPr>
        <p:spPr>
          <a:xfrm>
            <a:off x="9494000" y="304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08" name="Text"/>
          <p:cNvSpPr txBox="1"/>
          <p:nvPr/>
        </p:nvSpPr>
        <p:spPr>
          <a:xfrm>
            <a:off x="9494000" y="304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2</a:t>
            </a:r>
          </a:p>
        </p:txBody>
      </p:sp>
      <p:sp>
        <p:nvSpPr>
          <p:cNvPr id="1009" name="Text"/>
          <p:cNvSpPr txBox="1"/>
          <p:nvPr/>
        </p:nvSpPr>
        <p:spPr>
          <a:xfrm>
            <a:off x="9494000" y="365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Pros y contras</a:t>
            </a:r>
          </a:p>
        </p:txBody>
      </p:sp>
      <p:sp>
        <p:nvSpPr>
          <p:cNvPr id="1010" name="Text"/>
          <p:cNvSpPr txBox="1"/>
          <p:nvPr/>
        </p:nvSpPr>
        <p:spPr>
          <a:xfrm>
            <a:off x="9494000" y="4080000"/>
            <a:ext cx="7545300" cy="46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Qué gana y qué sacrifica frente a otras opciones</a:t>
            </a:r>
          </a:p>
        </p:txBody>
      </p:sp>
      <p:sp>
        <p:nvSpPr>
          <p:cNvPr id="1011" name="Card"/>
          <p:cNvSpPr/>
          <p:nvPr/>
        </p:nvSpPr>
        <p:spPr>
          <a:xfrm>
            <a:off x="1028700" y="480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12" name="Card"/>
          <p:cNvSpPr/>
          <p:nvPr/>
        </p:nvSpPr>
        <p:spPr>
          <a:xfrm>
            <a:off x="1248700" y="502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13" name="Text"/>
          <p:cNvSpPr txBox="1"/>
          <p:nvPr/>
        </p:nvSpPr>
        <p:spPr>
          <a:xfrm>
            <a:off x="1248700" y="502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3</a:t>
            </a:r>
          </a:p>
        </p:txBody>
      </p:sp>
      <p:sp>
        <p:nvSpPr>
          <p:cNvPr id="1014" name="Text"/>
          <p:cNvSpPr txBox="1"/>
          <p:nvPr/>
        </p:nvSpPr>
        <p:spPr>
          <a:xfrm>
            <a:off x="1248700" y="563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Hobbies vs. industria</a:t>
            </a:r>
          </a:p>
        </p:txBody>
      </p:sp>
      <p:sp>
        <p:nvSpPr>
          <p:cNvPr id="1015" name="Text"/>
          <p:cNvSpPr txBox="1"/>
          <p:nvPr/>
        </p:nvSpPr>
        <p:spPr>
          <a:xfrm>
            <a:off x="1248700" y="6060000"/>
            <a:ext cx="7545300" cy="46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Casos de uso creativos y aplicaciones críticas — con cuidado</a:t>
            </a:r>
          </a:p>
        </p:txBody>
      </p:sp>
      <p:sp>
        <p:nvSpPr>
          <p:cNvPr id="1016" name="Card"/>
          <p:cNvSpPr/>
          <p:nvPr/>
        </p:nvSpPr>
        <p:spPr>
          <a:xfrm>
            <a:off x="9274000" y="480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17" name="Card"/>
          <p:cNvSpPr/>
          <p:nvPr/>
        </p:nvSpPr>
        <p:spPr>
          <a:xfrm>
            <a:off x="9494000" y="502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18" name="Text"/>
          <p:cNvSpPr txBox="1"/>
          <p:nvPr/>
        </p:nvSpPr>
        <p:spPr>
          <a:xfrm>
            <a:off x="9494000" y="502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4</a:t>
            </a:r>
          </a:p>
        </p:txBody>
      </p:sp>
      <p:sp>
        <p:nvSpPr>
          <p:cNvPr id="1019" name="Text"/>
          <p:cNvSpPr txBox="1"/>
          <p:nvPr/>
        </p:nvSpPr>
        <p:spPr>
          <a:xfrm>
            <a:off x="9494000" y="563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Hardware compatible</a:t>
            </a:r>
          </a:p>
        </p:txBody>
      </p:sp>
      <p:sp>
        <p:nvSpPr>
          <p:cNvPr id="1020" name="Text"/>
          <p:cNvSpPr txBox="1"/>
          <p:nvPr/>
        </p:nvSpPr>
        <p:spPr>
          <a:xfrm>
            <a:off x="9494000" y="6060000"/>
            <a:ext cx="7545300" cy="46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Qué placas ESP32 / ESP8266 lo soportan</a:t>
            </a:r>
          </a:p>
        </p:txBody>
      </p:sp>
      <p:sp>
        <p:nvSpPr>
          <p:cNvPr id="1021" name="Card"/>
          <p:cNvSpPr/>
          <p:nvPr/>
        </p:nvSpPr>
        <p:spPr>
          <a:xfrm>
            <a:off x="1028700" y="678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22" name="Card"/>
          <p:cNvSpPr/>
          <p:nvPr/>
        </p:nvSpPr>
        <p:spPr>
          <a:xfrm>
            <a:off x="1248700" y="700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23" name="Text"/>
          <p:cNvSpPr txBox="1"/>
          <p:nvPr/>
        </p:nvSpPr>
        <p:spPr>
          <a:xfrm>
            <a:off x="1248700" y="700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5</a:t>
            </a:r>
          </a:p>
        </p:txBody>
      </p:sp>
      <p:sp>
        <p:nvSpPr>
          <p:cNvPr id="1024" name="Text"/>
          <p:cNvSpPr txBox="1"/>
          <p:nvPr/>
        </p:nvSpPr>
        <p:spPr>
          <a:xfrm>
            <a:off x="1248700" y="761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Cómo empezar</a:t>
            </a:r>
          </a:p>
        </p:txBody>
      </p:sp>
      <p:sp>
        <p:nvSpPr>
          <p:cNvPr id="1025" name="Text"/>
          <p:cNvSpPr txBox="1"/>
          <p:nvPr/>
        </p:nvSpPr>
        <p:spPr>
          <a:xfrm>
            <a:off x="1248700" y="8040000"/>
            <a:ext cx="7545300" cy="46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De cero a tu primer esp_now_send()</a:t>
            </a:r>
          </a:p>
        </p:txBody>
      </p:sp>
      <p:sp>
        <p:nvSpPr>
          <p:cNvPr id="1026" name="Card"/>
          <p:cNvSpPr/>
          <p:nvPr/>
        </p:nvSpPr>
        <p:spPr>
          <a:xfrm>
            <a:off x="9274000" y="6780000"/>
            <a:ext cx="7985300" cy="1720000"/>
          </a:xfrm>
          <a:prstGeom prst="roundRect">
            <a:avLst>
              <a:gd name="adj" fmla="val 6000"/>
            </a:avLst>
          </a:prstGeom>
          <a:solidFill>
            <a:srgbClr val="141B30"/>
          </a:solidFill>
        </p:spPr>
        <p:txBody>
          <a:bodyPr/>
          <a:lstStyle/>
          <a:p>
            <a:endParaRPr lang="es-419"/>
          </a:p>
        </p:txBody>
      </p:sp>
      <p:sp>
        <p:nvSpPr>
          <p:cNvPr id="1027" name="Card"/>
          <p:cNvSpPr/>
          <p:nvPr/>
        </p:nvSpPr>
        <p:spPr>
          <a:xfrm>
            <a:off x="9494000" y="7000000"/>
            <a:ext cx="480000" cy="480000"/>
          </a:xfrm>
          <a:prstGeom prst="roundRect">
            <a:avLst>
              <a:gd name="adj" fmla="val 15000"/>
            </a:avLst>
          </a:prstGeom>
          <a:solidFill>
            <a:srgbClr val="A173FD"/>
          </a:solidFill>
        </p:spPr>
        <p:txBody>
          <a:bodyPr/>
          <a:lstStyle/>
          <a:p>
            <a:endParaRPr lang="es-419"/>
          </a:p>
        </p:txBody>
      </p:sp>
      <p:sp>
        <p:nvSpPr>
          <p:cNvPr id="1028" name="Text"/>
          <p:cNvSpPr txBox="1"/>
          <p:nvPr/>
        </p:nvSpPr>
        <p:spPr>
          <a:xfrm>
            <a:off x="9494000" y="7000000"/>
            <a:ext cx="480000" cy="48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419" sz="160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6</a:t>
            </a:r>
          </a:p>
        </p:txBody>
      </p:sp>
      <p:sp>
        <p:nvSpPr>
          <p:cNvPr id="1029" name="Text"/>
          <p:cNvSpPr txBox="1"/>
          <p:nvPr/>
        </p:nvSpPr>
        <p:spPr>
          <a:xfrm>
            <a:off x="9494000" y="7610000"/>
            <a:ext cx="75453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419" sz="1350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Nuestro proyecto: MeshNow</a:t>
            </a:r>
          </a:p>
        </p:txBody>
      </p:sp>
      <p:sp>
        <p:nvSpPr>
          <p:cNvPr id="1030" name="Text"/>
          <p:cNvSpPr txBox="1"/>
          <p:nvPr/>
        </p:nvSpPr>
        <p:spPr>
          <a:xfrm>
            <a:off x="9494000" y="8040000"/>
            <a:ext cx="7545300" cy="460000"/>
          </a:xfrm>
          <a:prstGeom prst="rect">
            <a:avLst/>
          </a:prstGeom>
        </p:spPr>
        <p:txBody>
          <a:bodyPr lIns="0" tIns="0" rIns="0" bIns="0" anchor="t"/>
          <a:lstStyle/>
          <a:p>
            <a:pPr>
              <a:lnSpc>
                <a:spcPct val="118000"/>
              </a:lnSpc>
            </a:pPr>
            <a:r>
              <a:rPr lang="es-419" sz="1000" dirty="0">
                <a:solidFill>
                  <a:srgbClr val="C9BFE8"/>
                </a:solidFill>
                <a:latin typeface="TT Norms"/>
                <a:ea typeface="TT Norms"/>
                <a:cs typeface="TT Norms"/>
                <a:sym typeface="TT Norms"/>
              </a:rPr>
              <a:t>Código real: una malla multi-salto explicada</a:t>
            </a:r>
          </a:p>
        </p:txBody>
      </p:sp>
      <p:sp>
        <p:nvSpPr>
          <p:cNvPr id="18" name="Freeform 18"/>
          <p:cNvSpPr/>
          <p:nvPr/>
        </p:nvSpPr>
        <p:spPr>
          <a:xfrm>
            <a:off x="-271776" y="8749435"/>
            <a:ext cx="5654060" cy="1017731"/>
          </a:xfrm>
          <a:custGeom>
            <a:avLst/>
            <a:gdLst/>
            <a:ahLst/>
            <a:cxnLst/>
            <a:rect l="l" t="t" r="r" b="b"/>
            <a:pathLst>
              <a:path w="5654060" h="1017731">
                <a:moveTo>
                  <a:pt x="0" y="0"/>
                </a:moveTo>
                <a:lnTo>
                  <a:pt x="5654061" y="0"/>
                </a:lnTo>
                <a:lnTo>
                  <a:pt x="5654061" y="1017730"/>
                </a:lnTo>
                <a:lnTo>
                  <a:pt x="0" y="101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360</Words>
  <Application>Microsoft Office PowerPoint</Application>
  <PresentationFormat>Personalizado</PresentationFormat>
  <Paragraphs>59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Poppins Bold</vt:lpstr>
      <vt:lpstr>Calibri</vt:lpstr>
      <vt:lpstr>Poppins</vt:lpstr>
      <vt:lpstr>TT Norms</vt:lpstr>
      <vt:lpstr>Arial</vt:lpstr>
      <vt:lpstr>TT Norms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 Technology Presentation</dc:title>
  <cp:lastModifiedBy>Daniel Oliva</cp:lastModifiedBy>
  <cp:revision>3</cp:revision>
  <dcterms:created xsi:type="dcterms:W3CDTF">2006-08-16T00:00:00Z</dcterms:created>
  <dcterms:modified xsi:type="dcterms:W3CDTF">2026-08-23T17:19:07Z</dcterms:modified>
  <dc:identifier>DAHTHwhQTRc</dc:identifier>
</cp:coreProperties>
</file>